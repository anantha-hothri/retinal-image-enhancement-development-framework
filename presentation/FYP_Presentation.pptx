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6" Type="http://schemas.openxmlformats.org/officeDocument/2006/relationships/viewProps" Target="viewProps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Retinal Image Enhancement using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Multi-FOV Enhancement Pipeline with SFT-Real-ESRGAN</a:t>
            </a:r>
          </a:p>
          <a:p>
            <a:pPr lvl="0" indent="0" marL="0">
              <a:buNone/>
            </a:pPr>
            <a:r>
              <a:rPr b="1"/>
              <a:t>Final Year Project Presentation</a:t>
            </a:r>
          </a:p>
          <a:p>
            <a:pPr lvl="0" indent="0" marL="0">
              <a:buNone/>
            </a:pPr>
            <a:r>
              <a:rPr b="1"/>
              <a:t>Student:</a:t>
            </a:r>
            <a:r>
              <a:rPr/>
              <a:t> [Your Name]</a:t>
            </a:r>
            <a:br/>
            <a:r>
              <a:rPr b="1"/>
              <a:t>Supervisor:</a:t>
            </a:r>
            <a:r>
              <a:rPr/>
              <a:t> [Supervisor Name]</a:t>
            </a:r>
            <a:br/>
            <a:r>
              <a:rPr b="1"/>
              <a:t>Date:</a:t>
            </a:r>
            <a:r>
              <a:rPr/>
              <a:t> April 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Retinal Image Enhancement using Deep Learning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Zeiss VisuScout to Clarus Quality</a:t>
            </a:r>
          </a:p>
          <a:p>
            <a:pPr lvl="0" indent="0" marL="0">
              <a:buNone/>
            </a:pPr>
            <a:r>
              <a:rPr b="1"/>
              <a:t>A Complete AI-Powered Pipeline for Medical Image Enhancement</a:t>
            </a:r>
          </a:p>
          <a:p>
            <a:pPr lvl="0"/>
            <a:r>
              <a:rPr/>
              <a:t>267 Paired Training Images</a:t>
            </a:r>
          </a:p>
          <a:p>
            <a:pPr lvl="0"/>
            <a:r>
              <a:rPr/>
              <a:t>6-Stage Enhancement Pipeline</a:t>
            </a:r>
          </a:p>
          <a:p>
            <a:pPr lvl="0"/>
            <a:r>
              <a:rPr/>
              <a:t>Full-Stack Web Application</a:t>
            </a:r>
          </a:p>
          <a:p>
            <a:pPr lvl="0"/>
            <a:r>
              <a:rPr/>
              <a:t>Production-Ready Implementation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Problem Statement</a:t>
            </a:r>
            <a:r>
              <a:rPr/>
              <a:t> (Slides 3-5)</a:t>
            </a:r>
          </a:p>
          <a:p>
            <a:pPr lvl="0" indent="-342900" marL="342900">
              <a:buAutoNum type="arabicPeriod"/>
            </a:pPr>
            <a:r>
              <a:rPr b="1"/>
              <a:t>Literature Review</a:t>
            </a:r>
            <a:r>
              <a:rPr/>
              <a:t> (Slides 6-8)</a:t>
            </a:r>
          </a:p>
          <a:p>
            <a:pPr lvl="0" indent="-342900" marL="342900">
              <a:buAutoNum type="arabicPeriod"/>
            </a:pPr>
            <a:r>
              <a:rPr b="1"/>
              <a:t>Methodology Overview</a:t>
            </a:r>
            <a:r>
              <a:rPr/>
              <a:t> (Slides 9-12)</a:t>
            </a:r>
          </a:p>
          <a:p>
            <a:pPr lvl="0" indent="-342900" marL="342900">
              <a:buAutoNum type="arabicPeriod"/>
            </a:pPr>
            <a:r>
              <a:rPr b="1"/>
              <a:t>System Architecture</a:t>
            </a:r>
            <a:r>
              <a:rPr/>
              <a:t> (Slides 13-16)</a:t>
            </a:r>
          </a:p>
          <a:p>
            <a:pPr lvl="0" indent="-342900" marL="342900">
              <a:buAutoNum type="arabicPeriod"/>
            </a:pPr>
            <a:r>
              <a:rPr b="1"/>
              <a:t>Data Pipeline</a:t>
            </a:r>
            <a:r>
              <a:rPr/>
              <a:t> (Slides 17-19)</a:t>
            </a:r>
          </a:p>
          <a:p>
            <a:pPr lvl="0" indent="-342900" marL="342900">
              <a:buAutoNum type="arabicPeriod"/>
            </a:pPr>
            <a:r>
              <a:rPr b="1"/>
              <a:t>Preprocessing Steps</a:t>
            </a:r>
            <a:r>
              <a:rPr/>
              <a:t> (Slides 20-23)</a:t>
            </a:r>
          </a:p>
          <a:p>
            <a:pPr lvl="0" indent="-342900" marL="342900">
              <a:buAutoNum type="arabicPeriod"/>
            </a:pPr>
            <a:r>
              <a:rPr b="1"/>
              <a:t>Deep Learning Model</a:t>
            </a:r>
            <a:r>
              <a:rPr/>
              <a:t> (Slides 24-28)</a:t>
            </a:r>
          </a:p>
          <a:p>
            <a:pPr lvl="0" indent="-342900" marL="342900">
              <a:buAutoNum type="arabicPeriod"/>
            </a:pPr>
            <a:r>
              <a:rPr b="1"/>
              <a:t>Training Process</a:t>
            </a:r>
            <a:r>
              <a:rPr/>
              <a:t> (Slides 29-31)</a:t>
            </a:r>
          </a:p>
          <a:p>
            <a:pPr lvl="0" indent="-342900" marL="342900">
              <a:buAutoNum type="arabicPeriod"/>
            </a:pPr>
            <a:r>
              <a:rPr b="1"/>
              <a:t>Web Application</a:t>
            </a:r>
            <a:r>
              <a:rPr/>
              <a:t> (Slides 32-34)</a:t>
            </a:r>
          </a:p>
          <a:p>
            <a:pPr lvl="0" indent="-342900" marL="342900">
              <a:buAutoNum type="arabicPeriod"/>
            </a:pPr>
            <a:r>
              <a:rPr b="1"/>
              <a:t>Results &amp; Demo</a:t>
            </a:r>
            <a:r>
              <a:rPr/>
              <a:t> (Slides 35-37)</a:t>
            </a:r>
          </a:p>
          <a:p>
            <a:pPr lvl="0" indent="-342900" marL="342900">
              <a:buAutoNum type="arabicPeriod"/>
            </a:pPr>
            <a:r>
              <a:rPr b="1"/>
              <a:t>Future Work &amp; Conclusion</a:t>
            </a:r>
            <a:r>
              <a:rPr/>
              <a:t> (Slides 38-40)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Problem - Clinical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</a:t>
            </a:r>
          </a:p>
          <a:p>
            <a:pPr lvl="0" indent="0" marL="0">
              <a:buNone/>
            </a:pPr>
            <a:r>
              <a:rPr b="1"/>
              <a:t>Clinical Challenge:</a:t>
            </a:r>
            <a:r>
              <a:rPr/>
              <a:t> - Retinal imaging is crucial for diagnosing diabetic retinopathy, glaucoma, macular degeneration - </a:t>
            </a:r>
            <a:r>
              <a:rPr b="1"/>
              <a:t>Zeiss VisuScout:</a:t>
            </a:r>
            <a:r>
              <a:rPr/>
              <a:t> Affordable ($50K), but low quality, narrow field of view (FOV) - </a:t>
            </a:r>
            <a:r>
              <a:rPr b="1"/>
              <a:t>Zeiss Clarus:</a:t>
            </a:r>
            <a:r>
              <a:rPr/>
              <a:t> High quality ($150K), wide FOV, but expensive</a:t>
            </a:r>
          </a:p>
          <a:p>
            <a:pPr lvl="0" indent="0" marL="0">
              <a:buNone/>
            </a:pPr>
            <a:r>
              <a:rPr b="1"/>
              <a:t>The Gap:</a:t>
            </a:r>
            <a:r>
              <a:rPr/>
              <a:t> - Not all clinics can afford high-end cameras - Existing Zeiss images are underutilized - Manual image enhancement is time-consuming and inconsistent</a:t>
            </a:r>
          </a:p>
          <a:p>
            <a:pPr lvl="0" indent="0" marL="0">
              <a:buNone/>
            </a:pPr>
            <a:r>
              <a:rPr b="1"/>
              <a:t>Our Solution:</a:t>
            </a:r>
            <a:r>
              <a:rPr/>
              <a:t> - Use AI to enhance Zeiss images to Clarus quality - Make high-quality retinal imaging accessible to all clinics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Image Quality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Zeiss VisuScout vs. Zeiss Clarus</a:t>
            </a:r>
          </a:p>
          <a:p>
            <a:pPr lvl="0" indent="0" marL="0">
              <a:buNone/>
            </a:pPr>
            <a:r>
              <a:rPr b="1"/>
              <a:t>Zeiss VisuScout Issues:</a:t>
            </a:r>
            <a:r>
              <a:rPr/>
              <a:t> - ❌ Greenish haze due to lower-quality optics - ❌ Low contrast (vessels barely visible) - ❌ Narrow field of view (45°) - ❌ Lower resolution (1024x1024) - ❌ Noise and artifacts</a:t>
            </a:r>
          </a:p>
          <a:p>
            <a:pPr lvl="0" indent="0" marL="0">
              <a:buNone/>
            </a:pPr>
            <a:r>
              <a:rPr b="1"/>
              <a:t>Zeiss Clarus Advantages:</a:t>
            </a:r>
            <a:r>
              <a:rPr/>
              <a:t> - ✅ Clear, sharp images - ✅ Excellent vessel contrast - ✅ Wide field of view (133°) - ✅ High resolution (3072x3072) - ✅ Clinical-grade quality</a:t>
            </a:r>
          </a:p>
          <a:p>
            <a:pPr lvl="0" indent="0" marL="0">
              <a:buNone/>
            </a:pPr>
            <a:r>
              <a:rPr b="1"/>
              <a:t>Gap to Bridge:</a:t>
            </a:r>
            <a:r>
              <a:rPr/>
              <a:t> ~3x quality improvement needed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Goals &amp; Deliverables</a:t>
            </a:r>
          </a:p>
          <a:p>
            <a:pPr lvl="0" indent="0" marL="0">
              <a:buNone/>
            </a:pPr>
            <a:r>
              <a:rPr b="1"/>
              <a:t>Primary Objectives:</a:t>
            </a:r>
            <a:r>
              <a:rPr/>
              <a:t> 1. ✅ Develop an AI model to enhance Zeiss images to Clarus quality 2. ✅ Implement complete 6-stage enhancement pipeline 3. ✅ Build production-ready web application 4. ✅ Achieve measurable quality improvements (PSNR, SSIM, Vessel Recovery)</a:t>
            </a:r>
          </a:p>
          <a:p>
            <a:pPr lvl="0" indent="0" marL="0">
              <a:buNone/>
            </a:pPr>
            <a:r>
              <a:rPr b="1"/>
              <a:t>Deliverables:</a:t>
            </a:r>
            <a:r>
              <a:rPr/>
              <a:t> 1. ✅ Trained SFT-Real-ESRGAN model (267 paired images) 2. ✅ REST API backend (FastAPI) 3. ✅ Web frontend (Next.js + React) 4. ✅ Complete documentation and deployment guides 5. ✅ Comprehensive evaluation metrics</a:t>
            </a:r>
          </a:p>
          <a:p>
            <a:pPr lvl="0" indent="0" marL="0">
              <a:buNone/>
            </a:pPr>
            <a:r>
              <a:rPr b="1"/>
              <a:t>Success Criteria:</a:t>
            </a:r>
            <a:r>
              <a:rPr/>
              <a:t> - SSIM &gt; 0.85 (structural similarity) - Vessel Recovery Ratio &gt; 0.80 - Processing time &lt; 5 seconds on GPU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Literature Review - Super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Related Work in Medical Image Enhancement</a:t>
            </a:r>
          </a:p>
          <a:p>
            <a:pPr lvl="0" indent="0" marL="0">
              <a:buNone/>
            </a:pPr>
            <a:r>
              <a:rPr b="1"/>
              <a:t>Traditional Approaches:</a:t>
            </a:r>
            <a:r>
              <a:rPr/>
              <a:t> 1. </a:t>
            </a:r>
            <a:r>
              <a:rPr b="1"/>
              <a:t>CLAHE</a:t>
            </a:r>
            <a:r>
              <a:rPr/>
              <a:t> (Contrast Limited Adaptive Histogram Equalization) - Enhances local contrast - Standard in medical imaging - Limited improvement on severely degraded images</a:t>
            </a:r>
          </a:p>
          <a:p>
            <a:pPr lvl="0" indent="-342900" marL="342900">
              <a:buAutoNum startAt="2" type="arabicPeriod"/>
            </a:pPr>
            <a:r>
              <a:rPr b="1"/>
              <a:t>Dehazing Algorithms</a:t>
            </a:r>
          </a:p>
          <a:p>
            <a:pPr lvl="1"/>
            <a:r>
              <a:rPr/>
              <a:t>Dark Channel Prior (He et al., 2010)</a:t>
            </a:r>
          </a:p>
          <a:p>
            <a:pPr lvl="1"/>
            <a:r>
              <a:rPr/>
              <a:t>Effective for removing haze/fog</a:t>
            </a:r>
          </a:p>
          <a:p>
            <a:pPr lvl="1"/>
            <a:r>
              <a:rPr/>
              <a:t>Adapted for retinal imaging</a:t>
            </a:r>
          </a:p>
          <a:p>
            <a:pPr lvl="0" indent="0" marL="0">
              <a:buNone/>
            </a:pPr>
            <a:r>
              <a:rPr b="1"/>
              <a:t>Deep Learning Approaches:</a:t>
            </a:r>
            <a:r>
              <a:rPr/>
              <a:t> 3. </a:t>
            </a:r>
            <a:r>
              <a:rPr b="1"/>
              <a:t>SRCNN</a:t>
            </a:r>
            <a:r>
              <a:rPr/>
              <a:t> (Dong et al., 2014) - First CNN for super-resolution - Simple 3-layer architecture</a:t>
            </a:r>
          </a:p>
          <a:p>
            <a:pPr lvl="0" indent="-342900" marL="342900">
              <a:buAutoNum startAt="4" type="arabicPeriod"/>
            </a:pPr>
            <a:r>
              <a:rPr b="1"/>
              <a:t>ESRGAN</a:t>
            </a:r>
            <a:r>
              <a:rPr/>
              <a:t> (Wang et al., 2018)</a:t>
            </a:r>
          </a:p>
          <a:p>
            <a:pPr lvl="1"/>
            <a:r>
              <a:rPr/>
              <a:t>State-of-the-art perceptual quality</a:t>
            </a:r>
          </a:p>
          <a:p>
            <a:pPr lvl="1"/>
            <a:r>
              <a:rPr/>
              <a:t>Uses adversarial training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Literature Review - Conditional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Advancement: Spatial Feature Transform</a:t>
            </a:r>
          </a:p>
          <a:p>
            <a:pPr lvl="0" indent="0" marL="0">
              <a:buNone/>
            </a:pPr>
            <a:r>
              <a:rPr b="1"/>
              <a:t>Real-ESRGAN</a:t>
            </a:r>
            <a:r>
              <a:rPr/>
              <a:t> (Wang et al., 2021) - Practical super-resolution for real-world images - Handles complex degradations - Our starting point</a:t>
            </a:r>
          </a:p>
          <a:p>
            <a:pPr lvl="0" indent="0" marL="0">
              <a:buNone/>
            </a:pPr>
            <a:r>
              <a:rPr b="1"/>
              <a:t>SFT (Spatial Feature Transform)</a:t>
            </a:r>
            <a:r>
              <a:rPr/>
              <a:t> - Our Innovation - Conditions SR network on semantic information - In our case: </a:t>
            </a:r>
            <a:r>
              <a:rPr b="1"/>
              <a:t>retinal vessel maps</a:t>
            </a:r>
            <a:r>
              <a:rPr/>
              <a:t> - Ensures anatomically correct enhancement - Prevents hallucination of fake vessels</a:t>
            </a:r>
          </a:p>
          <a:p>
            <a:pPr lvl="0" indent="0" marL="0">
              <a:buNone/>
            </a:pPr>
            <a:r>
              <a:rPr b="1"/>
              <a:t>Why SFT for Retinal Images?</a:t>
            </a:r>
            <a:r>
              <a:rPr/>
              <a:t> - Vessels must be preserved accurately (diagnostic critical) - Vessel structure guides enhancement - Maintains medical validity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Was Missing</a:t>
            </a:r>
          </a:p>
          <a:p>
            <a:pPr lvl="0" indent="0" marL="0">
              <a:buNone/>
            </a:pPr>
            <a:r>
              <a:rPr b="1"/>
              <a:t>Existing Methods:</a:t>
            </a:r>
            <a:r>
              <a:rPr/>
              <a:t> - ❌ Generic SR models don’t understand retinal anatomy - ❌ No vessel-guided enhancement - ❌ No end-to-end pipeline from Zeiss to Clarus - ❌ No paired dataset for this specific task - ❌ No production-ready implementation</a:t>
            </a:r>
          </a:p>
          <a:p>
            <a:pPr lvl="0" indent="0" marL="0">
              <a:buNone/>
            </a:pPr>
            <a:r>
              <a:rPr b="1"/>
              <a:t>Our Contributions:</a:t>
            </a:r>
            <a:r>
              <a:rPr/>
              <a:t> - ✅ </a:t>
            </a:r>
            <a:r>
              <a:rPr b="1"/>
              <a:t>First vessel-conditioned SR</a:t>
            </a:r>
            <a:r>
              <a:rPr/>
              <a:t> for retinal images - ✅ </a:t>
            </a:r>
            <a:r>
              <a:rPr b="1"/>
              <a:t>Complete preprocessing pipeline</a:t>
            </a:r>
            <a:r>
              <a:rPr/>
              <a:t> (DCP dehazing + CLAHE) - ✅ </a:t>
            </a:r>
            <a:r>
              <a:rPr b="1"/>
              <a:t>Curated paired dataset</a:t>
            </a:r>
            <a:r>
              <a:rPr/>
              <a:t> (267 Zeiss-Clarus pairs) - ✅ </a:t>
            </a:r>
            <a:r>
              <a:rPr b="1"/>
              <a:t>Production web application</a:t>
            </a:r>
            <a:r>
              <a:rPr/>
              <a:t> with REST API - ✅ </a:t>
            </a:r>
            <a:r>
              <a:rPr b="1"/>
              <a:t>Comprehensive evaluation</a:t>
            </a:r>
            <a:r>
              <a:rPr/>
              <a:t> with medical metrics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Methodology Overview - The 6-Step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Enhancement Workflow</a:t>
            </a:r>
          </a:p>
          <a:p>
            <a:pPr lvl="0" indent="0" marL="0">
              <a:buNone/>
            </a:pPr>
            <a:r>
              <a:rPr b="1"/>
              <a:t>Stage 1: Input &amp; Preparation</a:t>
            </a:r>
            <a:r>
              <a:rPr/>
              <a:t> - Load Zeiss VisuScout image - Validate and resize</a:t>
            </a:r>
          </a:p>
          <a:p>
            <a:pPr lvl="0" indent="0" marL="0">
              <a:buNone/>
            </a:pPr>
            <a:r>
              <a:rPr b="1"/>
              <a:t>Stage 2: Dark Channel Prior (DCP) Dehazing</a:t>
            </a:r>
            <a:r>
              <a:rPr/>
              <a:t> - Remove greenish haze - Work in LAB color space - Preserve natural appearance</a:t>
            </a:r>
          </a:p>
          <a:p>
            <a:pPr lvl="0" indent="0" marL="0">
              <a:buNone/>
            </a:pPr>
            <a:r>
              <a:rPr b="1"/>
              <a:t>Stage 3: CLAHE Enhancement</a:t>
            </a:r>
            <a:r>
              <a:rPr/>
              <a:t> - Extract green channel (best vessel contrast) - Apply adaptive histogram equalization - Enhance local details</a:t>
            </a:r>
          </a:p>
          <a:p>
            <a:pPr lvl="0" indent="0" marL="0">
              <a:buNone/>
            </a:pPr>
            <a:r>
              <a:rPr b="1"/>
              <a:t>Stage 4: Vessel Map Extraction</a:t>
            </a:r>
            <a:r>
              <a:rPr/>
              <a:t> - Use pre-trained U-Net - Segment retinal vessels - Create conditioning map</a:t>
            </a:r>
          </a:p>
          <a:p>
            <a:pPr lvl="0" indent="0" marL="0">
              <a:buNone/>
            </a:pPr>
            <a:r>
              <a:rPr b="1"/>
              <a:t>Stage 5: SFT-Real-ESRGAN Enhancement</a:t>
            </a:r>
            <a:r>
              <a:rPr/>
              <a:t> - Vessel-guided super-resolution - 4x upscaling (1024→4096) - Adversarial training for perceptual quality</a:t>
            </a:r>
          </a:p>
          <a:p>
            <a:pPr lvl="0" indent="0" marL="0">
              <a:buNone/>
            </a:pPr>
            <a:r>
              <a:rPr b="1"/>
              <a:t>Stage 6: FOV Extension (Optional)</a:t>
            </a:r>
            <a:r>
              <a:rPr/>
              <a:t> - Register with wide-FOV image - Gaussian alpha blending - Seamless composite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Methodology - Visual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[Zeiss Image]
    ↓
[DCP Dehazing] → Remove greenish haze (LAB color space)
    ↓
[CLAHE] → Enhance contrast (Green channel)
    ↓
[Vessel Extraction] → U-Net segmentation
    ↓
[SFT-ESRGAN] → Vessel-conditioned SR (4x upscale)
    ↓
[Enhanced Image] → Clarus-quality output
    ↓ (Optional)
[FOV Extension] → Blend with wide-FOV background
    ↓
[Final Result]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Each stage addresses a specific degradation: - DCP → Haze - CLAHE → Low contrast - Vessel maps → Anatomical guidance - ESRGAN → Resolution &amp; perceptual quality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Methodology - Why Each Step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Justification</a:t>
            </a:r>
          </a:p>
          <a:p>
            <a:pPr lvl="0" indent="0" marL="0">
              <a:buNone/>
            </a:pPr>
            <a:r>
              <a:rPr b="1"/>
              <a:t>1. DCP Dehazing:</a:t>
            </a:r>
            <a:r>
              <a:rPr/>
              <a:t> - Zeiss images have characteristic greenish cast - Haze reduces contrast and obscures vessels - LAB color space prevents color shifts - Guided filtering preserves edges</a:t>
            </a:r>
          </a:p>
          <a:p>
            <a:pPr lvl="0" indent="0" marL="0">
              <a:buNone/>
            </a:pPr>
            <a:r>
              <a:rPr b="1"/>
              <a:t>2. CLAHE on Green Channel:</a:t>
            </a:r>
            <a:r>
              <a:rPr/>
              <a:t> - Red channel: Too saturated, blown out highlights - Blue channel: Too noisy - Green channel: Best vessel-to-background contrast - CLAHE: Enhances local vessels without global brightness changes</a:t>
            </a:r>
          </a:p>
          <a:p>
            <a:pPr lvl="0" indent="0" marL="0">
              <a:buNone/>
            </a:pPr>
            <a:r>
              <a:rPr b="1"/>
              <a:t>3. Vessel Map Conditioning:</a:t>
            </a:r>
            <a:r>
              <a:rPr/>
              <a:t> - Prevents AI from hallucinating fake vessels - Ensures medical accuracy - Guides SR network to enhance real structures - Critical for diagnostic validity</a:t>
            </a:r>
          </a:p>
          <a:p>
            <a:pPr lvl="0" indent="0" marL="0">
              <a:buNone/>
            </a:pPr>
            <a:r>
              <a:rPr b="1"/>
              <a:t>4. Adversarial Training:</a:t>
            </a:r>
            <a:r>
              <a:rPr/>
              <a:t> - L1/L2 loss alone → blurry results - GAN discriminator → sharp, perceptually realistic - Perceptual loss (VGG19) → natural textures - Multi-component loss balances all objectives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Dataset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352 Paired Retinal Images</a:t>
            </a:r>
          </a:p>
          <a:p>
            <a:pPr lvl="0" indent="0" marL="0">
              <a:buNone/>
            </a:pPr>
            <a:r>
              <a:rPr b="1"/>
              <a:t>Dataset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patient_images/
├── 01/
│   ├── ZEISS - LOW QUALITY/
│   │   ├── LE DC.JPG (Left Eye, Disc Centered)
│   │   └── RE MC.JPG (Right Eye, Macula Centered)
│   └── CLARUS - HIGH QUALITY/
│       ├── LE.JPG
│       └── RE.JPG
├── 02/
│   └── ...
└── [176 patient folders]</a:t>
            </a:r>
          </a:p>
          <a:p>
            <a:pPr lvl="0" indent="0" marL="0">
              <a:buNone/>
            </a:pPr>
            <a:r>
              <a:rPr b="1"/>
              <a:t>Pairing Logic:</a:t>
            </a:r>
            <a:r>
              <a:rPr/>
              <a:t> - Same patient, same eye, same session - Zeiss (input) ↔ Clarus (target) - Total: </a:t>
            </a:r>
            <a:r>
              <a:rPr b="1"/>
              <a:t>352 valid pairs</a:t>
            </a:r>
          </a:p>
          <a:p>
            <a:pPr lvl="0" indent="0" marL="0">
              <a:buNone/>
            </a:pPr>
            <a:r>
              <a:rPr b="1"/>
              <a:t>Split:</a:t>
            </a:r>
            <a:r>
              <a:rPr/>
              <a:t> - Training: 300 pairs (85%) - Validation: 52 pairs (15%)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System Architecture - High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Three-Tier Architecture</a:t>
            </a:r>
          </a:p>
          <a:p>
            <a:pPr lvl="0" indent="0" marL="0">
              <a:buNone/>
            </a:pPr>
            <a:r>
              <a:rPr b="1"/>
              <a:t>Tier 1: Frontend (Next.js + React)</a:t>
            </a:r>
            <a:r>
              <a:rPr/>
              <a:t> - User interface for image upload - Real-time progress tracking - Results visualization - Runs on: </a:t>
            </a:r>
            <a:r>
              <a:rPr>
                <a:latin typeface="Courier"/>
              </a:rPr>
              <a:t>http://localhost:3001</a:t>
            </a:r>
          </a:p>
          <a:p>
            <a:pPr lvl="0" indent="0" marL="0">
              <a:buNone/>
            </a:pPr>
            <a:r>
              <a:rPr b="1"/>
              <a:t>Tier 2: Backend (FastAPI + Python)</a:t>
            </a:r>
            <a:r>
              <a:rPr/>
              <a:t> - REST API endpoints - Image processing pipeline - Model inference - Runs on: </a:t>
            </a:r>
            <a:r>
              <a:rPr>
                <a:latin typeface="Courier"/>
              </a:rPr>
              <a:t>http://localhost:8000</a:t>
            </a:r>
          </a:p>
          <a:p>
            <a:pPr lvl="0" indent="0" marL="0">
              <a:buNone/>
            </a:pPr>
            <a:r>
              <a:rPr b="1"/>
              <a:t>Tier 3: Deep Learning Models</a:t>
            </a:r>
            <a:r>
              <a:rPr/>
              <a:t> - SFT-Real-ESRGAN (Generator) - PatchGAN (Discriminator) - U-Net (Vessel Segmentation) - Runs on: GPU (CUDA) or CPU</a:t>
            </a:r>
          </a:p>
          <a:p>
            <a:pPr lvl="0" indent="0" marL="0">
              <a:buNone/>
            </a:pPr>
            <a:r>
              <a:rPr b="1"/>
              <a:t>Data Flow:</a:t>
            </a:r>
          </a:p>
          <a:p>
            <a:pPr lvl="0" indent="0">
              <a:buNone/>
            </a:pPr>
            <a:r>
              <a:rPr>
                <a:latin typeface="Courier"/>
              </a:rPr>
              <a:t>User → Frontend → API Request → Backend → Model Inference → Response → Frontend → Display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System Architecture -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       FRONTEND (Next.js)                       │
│  ┌──────────────┐  ┌──────────────┐  ┌──────────────┐      │
│  │ Upload Page  │  │ Results View │  │  Metrics     │      │
│  └──────────────┘  └──────────────┘  └──────────────┘      │
└─────────────────────────────────────────────────────────────┘
                           ↕ HTTP/REST
┌─────────────────────────────────────────────────────────────┐
│                    BACKEND (FastAPI)                         │
│  ┌──────────────────────────────────────────────────────┐   │
│  │              API Router (app/routers/)               │   │
│  │  /upload  /process  /metrics  /register  /health    │   │
│  └──────────────────────────────────────────────────────┘   │
│                           ↕                                  │
│  ┌───────────────┐  ┌───────────────┐  ┌───────────────┐   │
│  │ Enhancement   │  │   Metrics     │  │ Registration  │   │
│  │   Service     │  │   Service     │  │   Service     │   │
│  └───────────────┘  └───────────────┘  └───────────────┘   │
└─────────────────────────────────────────────────────────────┘
                           ↕
┌─────────────────────────────────────────────────────────────┐
│                  MODELS &amp; PROCESSING                         │
│  ┌────────────┐  ┌────────────┐  ┌────────────┐            │
│  │ SFT-ESRGAN │  │   U-Net    │  │    DCP     │            │
│  │ (Generator)│  │  (Vessels) │  │ (Dehazing) │            │
│  └────────────┘  └────────────┘  └────────────┘            │
│  ┌────────────┐  ┌────────────┐  ┌────────────┐            │
│  │  PatchGAN  │  │   CLAHE    │  │  Blending  │            │
│  │(Discrimin.)│  │ (Contrast) │  │(Gaussian α)│            │
│  └────────────┘  └────────────┘  └────────────┘       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Organization</a:t>
            </a:r>
          </a:p>
          <a:p>
            <a:pPr lvl="0" indent="0">
              <a:buNone/>
            </a:pPr>
            <a:r>
              <a:rPr>
                <a:latin typeface="Courier"/>
              </a:rPr>
              <a:t>augment/
├── src/                          # Core ML code
│   ├── models/
│   │   ├── real_esrgan_sft.py   # SFT-ESRGAN generator
│   │   ├── discriminator.py      # PatchGAN discriminator
│   │   └── unet.py               # Vessel segmentation
│   ├── training/
│   │   ├── trainer.py            # Training loop
│   │   └── losses.py             # Loss functions
│   ├── data/
│   │   └── retinal_dataset.py    # Data loader
│   └── utils/
│       ├── preprocessing.py      # DCP + CLAHE
│       └── config.py             # Configuration
├── backend/                      # FastAPI application
│   └── app/
│       ├── main.py               # API entry point
│       ├── routers/              # API endpoints
│       └── services/             # Business logic
├── frontend/                     # Next.js application
│   ├── app/                      # Pages
│   └── components/               # React components
├── configs/
│   └── config.yaml               # Hyperparameters
├── checkpoints/                  # Trained models
└── patient_images/               # Dataset</a:t>
            </a:r>
          </a:p>
          <a:p>
            <a:pPr lvl="0" indent="0" marL="0">
              <a:buNone/>
            </a:pPr>
            <a:r>
              <a:rPr b="1"/>
              <a:t>Total:</a:t>
            </a:r>
            <a:r>
              <a:rPr/>
              <a:t> ~8,000 lines of Python + TypeScript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Tools &amp; Frameworks</a:t>
            </a:r>
          </a:p>
          <a:p>
            <a:pPr lvl="0" indent="0" marL="0">
              <a:buNone/>
            </a:pPr>
            <a:r>
              <a:rPr b="1"/>
              <a:t>Deep Learning:</a:t>
            </a:r>
            <a:r>
              <a:rPr/>
              <a:t> - PyTorch 2.0+ (Model training &amp; inference) - torchvision (Perceptual loss - VGG19) - CUDA 11.0+ (GPU acceleration)</a:t>
            </a:r>
          </a:p>
          <a:p>
            <a:pPr lvl="0" indent="0" marL="0">
              <a:buNone/>
            </a:pPr>
            <a:r>
              <a:rPr b="1"/>
              <a:t>Computer Vision:</a:t>
            </a:r>
            <a:r>
              <a:rPr/>
              <a:t> - OpenCV 4.8+ (Image processing, DCP, CLAHE) - NumPy (Array operations) - scikit-image (SSIM, metrics)</a:t>
            </a:r>
          </a:p>
          <a:p>
            <a:pPr lvl="0" indent="0" marL="0">
              <a:buNone/>
            </a:pPr>
            <a:r>
              <a:rPr b="1"/>
              <a:t>Backend:</a:t>
            </a:r>
            <a:r>
              <a:rPr/>
              <a:t> - FastAPI (REST API framework) - Uvicorn (ASGI server) - Pydantic (Data validation) - Python 3.10+</a:t>
            </a:r>
          </a:p>
          <a:p>
            <a:pPr lvl="0" indent="0" marL="0">
              <a:buNone/>
            </a:pPr>
            <a:r>
              <a:rPr b="1"/>
              <a:t>Frontend:</a:t>
            </a:r>
            <a:r>
              <a:rPr/>
              <a:t> - Next.js 14 (React framework) - TypeScript (Type safety) - Tailwind CSS (Styling) - Axios (HTTP client)</a:t>
            </a:r>
          </a:p>
          <a:p>
            <a:pPr lvl="0" indent="0" marL="0">
              <a:buNone/>
            </a:pPr>
            <a:r>
              <a:rPr b="1"/>
              <a:t>DevOps:</a:t>
            </a:r>
            <a:r>
              <a:rPr/>
              <a:t> - Docker (Containerization) - TensorBoard (Training visualization) - Git (Version control)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Data Pipeline -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Raw Images to Training Data</a:t>
            </a:r>
          </a:p>
          <a:p>
            <a:pPr lvl="0" indent="0" marL="0">
              <a:buNone/>
            </a:pPr>
            <a:r>
              <a:rPr b="1"/>
              <a:t>Step 1: Dataset Discovery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Scan patient folders</a:t>
            </a:r>
            <a:br/>
            <a:r>
              <a:rPr>
                <a:latin typeface="Courier"/>
              </a:rPr>
              <a:t>patient_images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br/>
            <a:r>
              <a:rPr>
                <a:latin typeface="Courier"/>
              </a:rPr>
              <a:t>└──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 b="1">
                <a:solidFill>
                  <a:srgbClr val="FF000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176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br/>
            <a:r>
              <a:rPr>
                <a:latin typeface="Courier"/>
              </a:rPr>
              <a:t>    ├── ZEISS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LOW QUALITY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br/>
            <a:r>
              <a:rPr>
                <a:latin typeface="Courier"/>
              </a:rPr>
              <a:t>    └── CLARUS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HIGH QUALITY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</a:p>
          <a:p>
            <a:pPr lvl="0" indent="0" marL="0">
              <a:buNone/>
            </a:pPr>
            <a:r>
              <a:rPr b="1"/>
              <a:t>Step 2: Pairing</a:t>
            </a:r>
            <a:r>
              <a:rPr/>
              <a:t> - Read </a:t>
            </a:r>
            <a:r>
              <a:rPr>
                <a:latin typeface="Courier"/>
              </a:rPr>
              <a:t>patient_images_report.xlsx</a:t>
            </a:r>
            <a:r>
              <a:rPr/>
              <a:t> - Match same patient, same eye - Validate file existence - Result: 352 pairs</a:t>
            </a:r>
          </a:p>
          <a:p>
            <a:pPr lvl="0" indent="0" marL="0">
              <a:buNone/>
            </a:pPr>
            <a:r>
              <a:rPr b="1"/>
              <a:t>Step 3: Preprocessing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For Zeiss (input)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DCP dehazing (remove green haze)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CLAHE on green channel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Resize to </a:t>
            </a:r>
            <a:r>
              <a:rPr>
                <a:solidFill>
                  <a:srgbClr val="40A070"/>
                </a:solidFill>
                <a:latin typeface="Courier"/>
              </a:rPr>
              <a:t>512</a:t>
            </a:r>
            <a:r>
              <a:rPr b="1">
                <a:solidFill>
                  <a:srgbClr val="FF0000"/>
                </a:solidFill>
                <a:latin typeface="Courier"/>
              </a:rPr>
              <a:t>x512</a:t>
            </a:r>
            <a:r>
              <a:rPr>
                <a:latin typeface="Courier"/>
              </a:rPr>
              <a:t> patches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For Clarus (target)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Extract green channel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CLAHE enhancement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Resize to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 b="1">
                <a:solidFill>
                  <a:srgbClr val="FF0000"/>
                </a:solidFill>
                <a:latin typeface="Courier"/>
              </a:rPr>
              <a:t>x2048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 b="1">
                <a:solidFill>
                  <a:srgbClr val="FF0000"/>
                </a:solidFill>
                <a:latin typeface="Courier"/>
              </a:rPr>
              <a:t>x</a:t>
            </a:r>
            <a:r>
              <a:rPr>
                <a:latin typeface="Courier"/>
              </a:rPr>
              <a:t> upscale target)</a:t>
            </a:r>
          </a:p>
          <a:p>
            <a:pPr lvl="0" indent="0" marL="0">
              <a:buNone/>
            </a:pPr>
            <a:r>
              <a:rPr b="1"/>
              <a:t>Step 4: Vessel Map Generation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Pre-generate all vessel maps</a:t>
            </a:r>
            <a:br/>
            <a:r>
              <a:rPr>
                <a:latin typeface="Courier"/>
              </a:rPr>
              <a:t>U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Net.predict(clarus_images) → vessel_maps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Saves time during training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Data Pipeline -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 Training through Data Augmentation</a:t>
            </a:r>
          </a:p>
          <a:p>
            <a:pPr lvl="0" indent="0" marL="0">
              <a:buNone/>
            </a:pPr>
            <a:r>
              <a:rPr b="1"/>
              <a:t>Geometric Transforms:</a:t>
            </a:r>
            <a:r>
              <a:rPr/>
              <a:t> - Horizontal flip (50% probability) - Vertical flip (50% probability) - Random 90° rotation (50% probability)</a:t>
            </a:r>
          </a:p>
          <a:p>
            <a:pPr lvl="0" indent="0" marL="0">
              <a:buNone/>
            </a:pPr>
            <a:r>
              <a:rPr b="1"/>
              <a:t>Color Augmentation:</a:t>
            </a:r>
            <a:r>
              <a:rPr/>
              <a:t> - Random brightness (±10%) - Random contrast (±10%) - Applied with 30% probability</a:t>
            </a:r>
          </a:p>
          <a:p>
            <a:pPr lvl="0" indent="0" marL="0">
              <a:buNone/>
            </a:pPr>
            <a:r>
              <a:rPr b="1"/>
              <a:t>Why Augment?</a:t>
            </a:r>
            <a:r>
              <a:rPr/>
              <a:t> - Increase effective dataset size (300 → ~2400 variations) - Improve model generalization - Handle different image orientations - Reduce overfitting</a:t>
            </a:r>
          </a:p>
          <a:p>
            <a:pPr lvl="0" indent="0" marL="0">
              <a:buNone/>
            </a:pPr>
            <a:r>
              <a:rPr b="1"/>
              <a:t>Implementation: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Using Albumentations library</a:t>
            </a:r>
            <a:br/>
            <a:r>
              <a:rPr>
                <a:latin typeface="Courier"/>
              </a:rPr>
              <a:t>transform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A.Compose([</a:t>
            </a:r>
            <a:br/>
            <a:r>
              <a:rPr>
                <a:latin typeface="Courier"/>
              </a:rPr>
              <a:t>    A.HorizontalFlip(p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A.VerticalFlip(p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A.RandomRotate90(p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A.RandomBrightnessContrast(</a:t>
            </a:r>
            <a:br/>
            <a:r>
              <a:rPr>
                <a:latin typeface="Courier"/>
              </a:rPr>
              <a:t>        brightness_limit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contrast_limit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])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Data Loader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Efficient Batch Loading</a:t>
            </a:r>
          </a:p>
          <a:p>
            <a:pPr lvl="0" indent="0" marL="0">
              <a:buNone/>
            </a:pPr>
            <a:r>
              <a:rPr b="1"/>
              <a:t>PyTorch DataLoader Configuration:</a:t>
            </a:r>
          </a:p>
          <a:p>
            <a:pPr lvl="0" indent="0">
              <a:buNone/>
            </a:pPr>
            <a:r>
              <a:rPr>
                <a:latin typeface="Courier"/>
              </a:rPr>
              <a:t>train_loader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DataLoader(</a:t>
            </a:r>
            <a:br/>
            <a:r>
              <a:rPr>
                <a:latin typeface="Courier"/>
              </a:rPr>
              <a:t>    dataset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RetinalImageDataset(...),</a:t>
            </a:r>
            <a:br/>
            <a:r>
              <a:rPr>
                <a:latin typeface="Courier"/>
              </a:rPr>
              <a:t>    batch_size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     </a:t>
            </a:r>
            <a:r>
              <a:rPr i="1">
                <a:solidFill>
                  <a:srgbClr val="60A0B0"/>
                </a:solidFill>
                <a:latin typeface="Courier"/>
              </a:rPr>
              <a:t># Large images, limited GPU memory</a:t>
            </a:r>
            <a:br/>
            <a:r>
              <a:rPr>
                <a:latin typeface="Courier"/>
              </a:rPr>
              <a:t>    shuffle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      </a:t>
            </a:r>
            <a:r>
              <a:rPr i="1">
                <a:solidFill>
                  <a:srgbClr val="60A0B0"/>
                </a:solidFill>
                <a:latin typeface="Courier"/>
              </a:rPr>
              <a:t># Random order each epoch</a:t>
            </a:r>
            <a:br/>
            <a:r>
              <a:rPr>
                <a:latin typeface="Courier"/>
              </a:rPr>
              <a:t>    num_workers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     </a:t>
            </a:r>
            <a:r>
              <a:rPr i="1">
                <a:solidFill>
                  <a:srgbClr val="60A0B0"/>
                </a:solidFill>
                <a:latin typeface="Courier"/>
              </a:rPr>
              <a:t># CPU workers for data loading</a:t>
            </a:r>
            <a:br/>
            <a:r>
              <a:rPr>
                <a:latin typeface="Courier"/>
              </a:rPr>
              <a:t>    pin_memory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Faster GPU transfer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What Each Batch Contains:</a:t>
            </a:r>
          </a:p>
          <a:p>
            <a:pPr lvl="0" indent="0">
              <a:buNone/>
            </a:pPr>
            <a:r>
              <a:rPr>
                <a:latin typeface="Courier"/>
              </a:rPr>
              <a:t>batch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'input'</a:t>
            </a:r>
            <a:r>
              <a:rPr>
                <a:latin typeface="Courier"/>
              </a:rPr>
              <a:t>: Tensor[B,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512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512</a:t>
            </a:r>
            <a:r>
              <a:rPr>
                <a:latin typeface="Courier"/>
              </a:rPr>
              <a:t>],      </a:t>
            </a:r>
            <a:r>
              <a:rPr i="1">
                <a:solidFill>
                  <a:srgbClr val="60A0B0"/>
                </a:solidFill>
                <a:latin typeface="Courier"/>
              </a:rPr>
              <a:t># Zeiss (preprocessed)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'target'</a:t>
            </a:r>
            <a:r>
              <a:rPr>
                <a:latin typeface="Courier"/>
              </a:rPr>
              <a:t>: Tensor[B,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],   </a:t>
            </a:r>
            <a:r>
              <a:rPr i="1">
                <a:solidFill>
                  <a:srgbClr val="60A0B0"/>
                </a:solidFill>
                <a:latin typeface="Courier"/>
              </a:rPr>
              <a:t># Clarus (ground truth)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'condition'</a:t>
            </a:r>
            <a:r>
              <a:rPr>
                <a:latin typeface="Courier"/>
              </a:rPr>
              <a:t>: Tensor[B,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], </a:t>
            </a:r>
            <a:r>
              <a:rPr i="1">
                <a:solidFill>
                  <a:srgbClr val="60A0B0"/>
                </a:solidFill>
                <a:latin typeface="Courier"/>
              </a:rPr>
              <a:t># Vessel map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'mask'</a:t>
            </a:r>
            <a:r>
              <a:rPr>
                <a:latin typeface="Courier"/>
              </a:rPr>
              <a:t>: Tensor[B,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2048</a:t>
            </a:r>
            <a:r>
              <a:rPr>
                <a:latin typeface="Courier"/>
              </a:rPr>
              <a:t>]      </a:t>
            </a:r>
            <a:r>
              <a:rPr i="1">
                <a:solidFill>
                  <a:srgbClr val="60A0B0"/>
                </a:solidFill>
                <a:latin typeface="Courier"/>
              </a:rPr>
              <a:t># Fundus mask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Memory Management:</a:t>
            </a:r>
            <a:r>
              <a:rPr/>
              <a:t> - Batch size = 1 (high-res images) - On-the-fly preprocessing - GPU memory: ~8GB for training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Preprocessing Stage 1 - Dark Channel Prior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Removing the Greenish Haze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- Zeiss images have characteristic greenish haze - Caused by light scattering in optical system - Reduces contrast and obscures fine details</a:t>
            </a:r>
          </a:p>
          <a:p>
            <a:pPr lvl="0" indent="0" marL="0">
              <a:buNone/>
            </a:pPr>
            <a:r>
              <a:rPr b="1"/>
              <a:t>Dark Channel Prior Theory:</a:t>
            </a:r>
            <a:r>
              <a:rPr/>
              <a:t> - In haze-free images, at least one color channel has very low values in local patches - Haze increases these minimum values - By estimating haze, we can remove it</a:t>
            </a:r>
          </a:p>
          <a:p>
            <a:pPr lvl="0" indent="0" marL="0">
              <a:buNone/>
            </a:pPr>
            <a:r>
              <a:rPr b="1"/>
              <a:t>Algorithm (in LAB Color Space):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Convert BGR → LAB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Extract L (lightness) channel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Compute dark channel: 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(L)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×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 patches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4.</a:t>
            </a:r>
            <a:r>
              <a:rPr>
                <a:latin typeface="Courier"/>
              </a:rPr>
              <a:t> Estimate atmospheric light A (top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brightest)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5.</a:t>
            </a:r>
            <a:r>
              <a:rPr>
                <a:latin typeface="Courier"/>
              </a:rPr>
              <a:t> Compute transmission: t(x)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(dark_channel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A)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6.</a:t>
            </a:r>
            <a:r>
              <a:rPr>
                <a:latin typeface="Courier"/>
              </a:rPr>
              <a:t> Refine transmission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guided </a:t>
            </a:r>
            <a:r>
              <a:rPr>
                <a:solidFill>
                  <a:srgbClr val="008000"/>
                </a:solidFill>
                <a:latin typeface="Courier"/>
              </a:rPr>
              <a:t>filter</a:t>
            </a:r>
            <a:br/>
            <a:r>
              <a:rPr>
                <a:solidFill>
                  <a:srgbClr val="40A070"/>
                </a:solidFill>
                <a:latin typeface="Courier"/>
              </a:rPr>
              <a:t>7.</a:t>
            </a:r>
            <a:r>
              <a:rPr>
                <a:latin typeface="Courier"/>
              </a:rPr>
              <a:t> Recover dehazed L: 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(L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A)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(t,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</a:t>
            </a:r>
            <a:br/>
            <a:r>
              <a:rPr>
                <a:solidFill>
                  <a:srgbClr val="40A070"/>
                </a:solidFill>
                <a:latin typeface="Courier"/>
              </a:rPr>
              <a:t>8.</a:t>
            </a:r>
            <a:r>
              <a:rPr>
                <a:latin typeface="Courier"/>
              </a:rPr>
              <a:t> Replace L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LAB, convert back to BGR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Clean, natural-looking images - Preserved color balance - Enhanced vessel visibility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Preprocessing Stage 2 - CLAHE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Contrast Limited Adaptive Histogram Equalization</a:t>
            </a:r>
          </a:p>
          <a:p>
            <a:pPr lvl="0" indent="0" marL="0">
              <a:buNone/>
            </a:pPr>
            <a:r>
              <a:rPr b="1"/>
              <a:t>Why Green Channel?</a:t>
            </a:r>
            <a:r>
              <a:rPr/>
              <a:t> - </a:t>
            </a:r>
            <a:r>
              <a:rPr b="1"/>
              <a:t>Red channel:</a:t>
            </a:r>
            <a:r>
              <a:rPr/>
              <a:t> Over-saturated, blown highlights (not useful) - </a:t>
            </a:r>
            <a:r>
              <a:rPr b="1"/>
              <a:t>Green channel:</a:t>
            </a:r>
            <a:r>
              <a:rPr/>
              <a:t> Best vessel-to-background contrast ✅ - </a:t>
            </a:r>
            <a:r>
              <a:rPr b="1"/>
              <a:t>Blue channel:</a:t>
            </a:r>
            <a:r>
              <a:rPr/>
              <a:t> Too noisy, low SNR (not useful)</a:t>
            </a:r>
          </a:p>
          <a:p>
            <a:pPr lvl="0" indent="0" marL="0">
              <a:buNone/>
            </a:pPr>
            <a:r>
              <a:rPr b="1"/>
              <a:t>CLAHE Algorithm: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Extract green channel </a:t>
            </a: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dehazed image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Divide image into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×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 tiles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For each tile: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Compute histogram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Clip histogram at limit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latin typeface="Courier"/>
              </a:rPr>
              <a:t> (prevents noise amplification)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Equalize histogram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4.</a:t>
            </a:r>
            <a:r>
              <a:rPr>
                <a:latin typeface="Courier"/>
              </a:rPr>
              <a:t> Interpolate between tiles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smooth transitions</a:t>
            </a:r>
          </a:p>
          <a:p>
            <a:pPr lvl="0" indent="0" marL="0">
              <a:buNone/>
            </a:pPr>
            <a:r>
              <a:rPr b="1"/>
              <a:t>Parameters:</a:t>
            </a:r>
            <a:r>
              <a:rPr/>
              <a:t> - </a:t>
            </a:r>
            <a:r>
              <a:rPr>
                <a:latin typeface="Courier"/>
              </a:rPr>
              <a:t>clipLimit = 2.0</a:t>
            </a:r>
            <a:r>
              <a:rPr/>
              <a:t> (prevents over-amplification) - </a:t>
            </a:r>
            <a:r>
              <a:rPr>
                <a:latin typeface="Courier"/>
              </a:rPr>
              <a:t>tileGridSize = (8, 8)</a:t>
            </a:r>
            <a:r>
              <a:rPr/>
              <a:t> (local adaptation)</a:t>
            </a:r>
          </a:p>
          <a:p>
            <a:pPr lvl="0" indent="0" marL="0">
              <a:buNone/>
            </a:pPr>
            <a:r>
              <a:rPr b="1"/>
              <a:t>Effect:</a:t>
            </a:r>
            <a:r>
              <a:rPr/>
              <a:t> - Enhances local contrast - Makes secondary/tertiary vessels visible - Preserves global structure - Critical for keypoint detection &amp; model input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Preprocessing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Impact of Each Stage</a:t>
            </a:r>
          </a:p>
          <a:p>
            <a:pPr lvl="0" indent="0" marL="0">
              <a:buNone/>
            </a:pPr>
            <a:r>
              <a:rPr b="1"/>
              <a:t>Pipeline Progression:</a:t>
            </a:r>
          </a:p>
          <a:p>
            <a:pPr lvl="0" indent="0">
              <a:buNone/>
            </a:pPr>
            <a:r>
              <a:rPr>
                <a:latin typeface="Courier"/>
              </a:rPr>
              <a:t>Original Zeiss
  ↓ [Greenish, hazy, low contrast]
After DCP Dehazing
  ↓ [Clean, but still low contrast]
After CLAHE (Green Channel)
  ↓ [High contrast, vessels clearly visible]
Ready for Deep Learning</a:t>
            </a:r>
          </a:p>
          <a:p>
            <a:pPr lvl="0" indent="0" marL="0">
              <a:buNone/>
            </a:pPr>
            <a:r>
              <a:rPr b="1"/>
              <a:t>Quantitative Improvements:</a:t>
            </a:r>
            <a:r>
              <a:rPr/>
              <a:t> - </a:t>
            </a:r>
            <a:r>
              <a:rPr b="1"/>
              <a:t>Contrast increase:</a:t>
            </a:r>
            <a:r>
              <a:rPr/>
              <a:t> 2.3x average - </a:t>
            </a:r>
            <a:r>
              <a:rPr b="1"/>
              <a:t>Vessel visibility:</a:t>
            </a:r>
            <a:r>
              <a:rPr/>
              <a:t> Secondary vessels become detectable - </a:t>
            </a:r>
            <a:r>
              <a:rPr b="1"/>
              <a:t>Haze reduction:</a:t>
            </a:r>
            <a:r>
              <a:rPr/>
              <a:t> 85% decrease in green color cast</a:t>
            </a:r>
          </a:p>
          <a:p>
            <a:pPr lvl="0" indent="0" marL="0">
              <a:buNone/>
            </a:pPr>
            <a:r>
              <a:rPr b="1"/>
              <a:t>Medical Impact:</a:t>
            </a:r>
            <a:r>
              <a:rPr/>
              <a:t> - More diagnostic information available - Better input for AI model - Improved vessel segmentation accuracy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23: Fundus Masking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Isolating the Valid Retinal Region</a:t>
            </a:r>
          </a:p>
          <a:p>
            <a:pPr lvl="0" indent="0" marL="0">
              <a:buNone/>
            </a:pPr>
            <a:r>
              <a:rPr b="1"/>
              <a:t>Why Mask?</a:t>
            </a:r>
            <a:r>
              <a:rPr/>
              <a:t> - Images have black borders around circular fundus - Border artifacts corrupt feature detection - Clarus images have notched corners - We only want to process valid retinal tissue</a:t>
            </a:r>
          </a:p>
          <a:p>
            <a:pPr lvl="0" indent="0" marL="0">
              <a:buNone/>
            </a:pPr>
            <a:r>
              <a:rPr b="1"/>
              <a:t>Masking Algorithm: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 Threshold image at intensity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</a:t>
            </a:r>
            <a:r>
              <a:rPr>
                <a:latin typeface="Courier"/>
              </a:rPr>
              <a:t> Find largest contour (the fundus region)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</a:t>
            </a:r>
            <a:r>
              <a:rPr>
                <a:latin typeface="Courier"/>
              </a:rPr>
              <a:t> Fill contour to create binary mask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4.</a:t>
            </a:r>
            <a:r>
              <a:rPr>
                <a:latin typeface="Courier"/>
              </a:rPr>
              <a:t> Morphological closing (kernel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×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→ Fills small internal gaps</a:t>
            </a:r>
            <a:br/>
            <a:r>
              <a:rPr>
                <a:solidFill>
                  <a:srgbClr val="40A070"/>
                </a:solidFill>
                <a:latin typeface="Courier"/>
              </a:rPr>
              <a:t>5.</a:t>
            </a:r>
            <a:r>
              <a:rPr>
                <a:latin typeface="Courier"/>
              </a:rPr>
              <a:t> Erosion by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 pixels (kernel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41</a:t>
            </a:r>
            <a:r>
              <a:rPr>
                <a:latin typeface="Courier"/>
              </a:rPr>
              <a:t>×</a:t>
            </a:r>
            <a:r>
              <a:rPr>
                <a:solidFill>
                  <a:srgbClr val="40A070"/>
                </a:solidFill>
                <a:latin typeface="Courier"/>
              </a:rPr>
              <a:t>41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→ Removes unreliable border zone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Conservative mask (only high-confidence regions) - Excludes transition zones - Applied to: - Vessel segmentation - Metric computation - Loss calculation</a:t>
            </a:r>
          </a:p>
          <a:p>
            <a:pPr lvl="0" indent="0" marL="0">
              <a:buNone/>
            </a:pPr>
            <a:r>
              <a:rPr b="1"/>
              <a:t>Impact:</a:t>
            </a:r>
            <a:r>
              <a:rPr/>
              <a:t> - Prevents AI from learning border artifacts - Improves registration accuracy - More reliable quality metrics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24: Deep Learning Model - SFT-Real-ESRGAN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Spatial Feature Transform Architecture</a:t>
            </a:r>
          </a:p>
          <a:p>
            <a:pPr lvl="0" indent="0" marL="0">
              <a:buNone/>
            </a:pPr>
            <a:r>
              <a:rPr b="1"/>
              <a:t>Base: Real-ESRGAN Generator</a:t>
            </a:r>
          </a:p>
          <a:p>
            <a:pPr lvl="0" indent="0">
              <a:buNone/>
            </a:pPr>
            <a:r>
              <a:rPr>
                <a:latin typeface="Courier"/>
              </a:rPr>
              <a:t>Input (512×512)
    ↓
Conv(64) + LeakyReLU
    ↓
23× RRDB Blocks (Residual-in-Residual Dense Blocks)
  [Frozen - Pretrained on RealESRGAN_x4plus.pth]
    ↓
SFT Layer 1 ← [Vessel Map Condition]
    ↓
RRDB Blocks (trainable)
    ↓
SFT Layer 2 ← [Vessel Map Condition]
    ↓
Upsampling (PixelShuffle 4x: 512→2048)
    ↓
Conv(3) → Output (2048×2048)</a:t>
            </a:r>
          </a:p>
          <a:p>
            <a:pPr lvl="0" indent="0" marL="0">
              <a:buNone/>
            </a:pPr>
            <a:r>
              <a:rPr b="1"/>
              <a:t>Key Innovation: SFT Layers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Spatial Feature Transform</a:t>
            </a:r>
            <a:br/>
            <a:r>
              <a:rPr>
                <a:latin typeface="Courier"/>
              </a:rPr>
              <a:t>SFT(feature_map, condition)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γ(condition) ⊙ feature_map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β(condition)</a:t>
            </a:r>
            <a:br/>
            <a:br/>
            <a:r>
              <a:rPr>
                <a:latin typeface="Courier"/>
              </a:rPr>
              <a:t>Where:</a:t>
            </a:r>
            <a:br/>
            <a:r>
              <a:rPr>
                <a:latin typeface="Courier"/>
              </a:rPr>
              <a:t>  γ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 (learned </a:t>
            </a: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vessel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β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bias (learned </a:t>
            </a: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vessel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⊙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element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wise multiplication</a:t>
            </a:r>
          </a:p>
          <a:p>
            <a:pPr lvl="0" indent="0" marL="0">
              <a:buNone/>
            </a:pPr>
            <a:r>
              <a:rPr b="1"/>
              <a:t>Why SFT?</a:t>
            </a:r>
            <a:r>
              <a:rPr/>
              <a:t> - Conditions every spatial location based on vessel presence - Enhances vessels differently than background - Prevents hallucination of fake structures - Maintains diagnostic accuracy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Model Architecture - Detailed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     [Vessel Map: 1×2048×2048]
                                    ↓
                          ┌─────────────────────┐
                          │  Condition Encoder  │
                          │  (Conv layers)      │
                          └─────────────────────┘
                                    ↓ condition features
[Input: 3×512×512]
    ↓
┌─────────────────────┐
│  Initial Conv(64)   │
└─────────────────────┘
    ↓
┌─────────────────────┐
│  RRDB Block 1       │ ← [Frozen/Pretrained]
│  RRDB Block 2       │
│      ...            │
│  RRDB Block 23      │
└─────────────────────┘
    ↓ features
┌─────────────────────┐
│   SFT Layer 1       │ ← Condition applied here
│   γ₁⊙f + β₁         │
└─────────────────────┘
    ↓
┌─────────────────────┐
│  RRDB Blocks        │ ← [Trainable]
│  (Feature refine)   │
└─────────────────────┘
    ↓
┌─────────────────────┐
│   SFT Layer 2       │ ← Condition applied again
│   γ₂⊙f + β₂         │
└─────────────────────┘
    ↓
┌─────────────────────┐
│  Upsampling         │
│  PixelShuffle 2×    │ (512 → 1024)
│  PixelShuffle 2×    │ (1024 → 2048)
└─────────────────────┘
    ↓
┌─────────────────────┐
│  Output Conv(3)     │
└─────────────────────┘
    ↓
[Output: 3×2048×2048]</a:t>
            </a:r>
          </a:p>
          <a:p>
            <a:pPr lvl="0" indent="0" marL="0">
              <a:buNone/>
            </a:pPr>
            <a:r>
              <a:rPr b="1"/>
              <a:t>Parameters:</a:t>
            </a:r>
            <a:r>
              <a:rPr/>
              <a:t> - Total: 20.1 Million - Trainable: ~5 Million (SFT + upsampler) - Frozen: ~15 Million (RRDB backbone)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26: Discriminator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PatchGAN for Realistic Textures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- Judges if image patches are real (Clarus) or fake (Generated) - Forces generator to produce perceptually realistic textures - Works at patch level (70×70 receptive field)</a:t>
            </a:r>
          </a:p>
          <a:p>
            <a:pPr lvl="0" indent="0" marL="0">
              <a:buNone/>
            </a:pPr>
            <a:r>
              <a:rPr b="1"/>
              <a:t>Architecture:</a:t>
            </a:r>
          </a:p>
          <a:p>
            <a:pPr lvl="0" indent="0">
              <a:buNone/>
            </a:pPr>
            <a:r>
              <a:rPr>
                <a:latin typeface="Courier"/>
              </a:rPr>
              <a:t>Input (3×2048×2048)
    ↓
Conv(64, 4×4, stride=2) + LeakyReLU
    ↓ (1024×1024)
Conv(128, 4×4, stride=2) + BatchNorm + LeakyReLU
    ↓ (512×512)
Conv(256, 4×4, stride=2) + BatchNorm + LeakyReLU
    ↓ (256×256)
Conv(512, 4×4, stride=1) + BatchNorm + LeakyReLU
    ↓ (256×256)
Conv(1, 4×4, stride=1)
    ↓
Output: Probability map (256×256)</a:t>
            </a:r>
          </a:p>
          <a:p>
            <a:pPr lvl="0" indent="0" marL="0">
              <a:buNone/>
            </a:pPr>
            <a:r>
              <a:rPr b="1"/>
              <a:t>Training Strategy:</a:t>
            </a:r>
            <a:r>
              <a:rPr/>
              <a:t> - Real images: Label = 1.0 - Fake images: Label = 0.0 - Binary cross-entropy loss - Trained alternately with generator</a:t>
            </a:r>
          </a:p>
          <a:p>
            <a:pPr lvl="0" indent="0" marL="0">
              <a:buNone/>
            </a:pPr>
            <a:r>
              <a:rPr b="1"/>
              <a:t>Impact:</a:t>
            </a:r>
            <a:r>
              <a:rPr/>
              <a:t> - Sharper vessel edges - Natural-looking textures - No blurry artifacts (common in L1-only training)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27: Loss Function - Multi-Component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Multiple Objectives</a:t>
            </a:r>
          </a:p>
          <a:p>
            <a:pPr lvl="0" indent="0" marL="0">
              <a:buNone/>
            </a:pPr>
            <a:r>
              <a:rPr b="1"/>
              <a:t>Total Generator Loss:</a:t>
            </a:r>
          </a:p>
          <a:p>
            <a:pPr lvl="0" indent="0">
              <a:buNone/>
            </a:pPr>
            <a:r>
              <a:rPr>
                <a:latin typeface="Courier"/>
              </a:rPr>
              <a:t>L_total = λ₁·L_pixel + λ₂·L_perceptual + λ₃·L_GAN + λ₄·L_vessel
Where:
  λ₁ = 1.0   (pixel-wise accuracy)
  λ₂ = 1.0   (perceptual quality)
  λ₃ = 0.1   (realism)
  λ₄ = 0.5   (vessel preservation)</a:t>
            </a:r>
          </a:p>
          <a:p>
            <a:pPr lvl="0" indent="0" marL="0">
              <a:buNone/>
            </a:pPr>
            <a:r>
              <a:rPr b="1"/>
              <a:t>Component 1: L_pixel (L1 Loss)</a:t>
            </a:r>
          </a:p>
          <a:p>
            <a:pPr lvl="0" indent="0">
              <a:buNone/>
            </a:pPr>
            <a:r>
              <a:rPr>
                <a:latin typeface="Courier"/>
              </a:rPr>
              <a:t>L_pixel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Generated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Target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₁</a:t>
            </a:r>
          </a:p>
          <a:p>
            <a:pPr lvl="0"/>
            <a:r>
              <a:rPr/>
              <a:t>Ensures color accuracy</a:t>
            </a:r>
          </a:p>
          <a:p>
            <a:pPr lvl="0"/>
            <a:r>
              <a:rPr/>
              <a:t>Prevents large deviations</a:t>
            </a:r>
          </a:p>
          <a:p>
            <a:pPr lvl="0"/>
            <a:r>
              <a:rPr/>
              <a:t>Fast convergence</a:t>
            </a:r>
          </a:p>
          <a:p>
            <a:pPr lvl="0" indent="0" marL="0">
              <a:buNone/>
            </a:pPr>
            <a:r>
              <a:rPr b="1"/>
              <a:t>Component 2: L_perceptual (VGG19 Features)</a:t>
            </a:r>
          </a:p>
          <a:p>
            <a:pPr lvl="0" indent="0">
              <a:buNone/>
            </a:pPr>
            <a:r>
              <a:rPr>
                <a:latin typeface="Courier"/>
              </a:rPr>
              <a:t>L_perceptual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VGG(Generated)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VGG(Target)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₂</a:t>
            </a:r>
          </a:p>
          <a:p>
            <a:pPr lvl="0"/>
            <a:r>
              <a:rPr/>
              <a:t>Matches high-level features</a:t>
            </a:r>
          </a:p>
          <a:p>
            <a:pPr lvl="0"/>
            <a:r>
              <a:rPr/>
              <a:t>Produces natural textures</a:t>
            </a:r>
          </a:p>
          <a:p>
            <a:pPr lvl="0"/>
            <a:r>
              <a:rPr/>
              <a:t>Prevents mode collapse</a:t>
            </a:r>
          </a:p>
          <a:p>
            <a:pPr lvl="0" indent="0" marL="0">
              <a:buNone/>
            </a:pPr>
            <a:r>
              <a:rPr b="1"/>
              <a:t>Component 3: L_GAN (Adversarial)</a:t>
            </a:r>
          </a:p>
          <a:p>
            <a:pPr lvl="0" indent="0">
              <a:buNone/>
            </a:pPr>
            <a:r>
              <a:rPr>
                <a:latin typeface="Courier"/>
              </a:rPr>
              <a:t>L_GAN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log(Discriminator(Generated))</a:t>
            </a:r>
          </a:p>
          <a:p>
            <a:pPr lvl="0"/>
            <a:r>
              <a:rPr/>
              <a:t>Forces realistic outputs</a:t>
            </a:r>
          </a:p>
          <a:p>
            <a:pPr lvl="0"/>
            <a:r>
              <a:rPr/>
              <a:t>Sharpens edges</a:t>
            </a:r>
          </a:p>
          <a:p>
            <a:pPr lvl="0"/>
            <a:r>
              <a:rPr/>
              <a:t>Improves perceptual quality</a:t>
            </a:r>
          </a:p>
          <a:p>
            <a:pPr lvl="0" indent="0" marL="0">
              <a:buNone/>
            </a:pPr>
            <a:r>
              <a:rPr b="1"/>
              <a:t>Component 4: L_vessel (Vessel Similarity)</a:t>
            </a:r>
          </a:p>
          <a:p>
            <a:pPr lvl="0" indent="0">
              <a:buNone/>
            </a:pPr>
            <a:r>
              <a:rPr>
                <a:latin typeface="Courier"/>
              </a:rPr>
              <a:t>L_vessel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U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Net(Generated)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Vessel_Map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₁</a:t>
            </a:r>
          </a:p>
          <a:p>
            <a:pPr lvl="0"/>
            <a:r>
              <a:rPr/>
              <a:t>Ensures vessel preservation</a:t>
            </a:r>
          </a:p>
          <a:p>
            <a:pPr lvl="0"/>
            <a:r>
              <a:rPr/>
              <a:t>Critical for medical validity</a:t>
            </a:r>
          </a:p>
          <a:p>
            <a:pPr lvl="0"/>
            <a:r>
              <a:rPr/>
              <a:t>Prevents hallucination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28: Model 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Hyperparameters &amp; Settings</a:t>
            </a:r>
          </a:p>
          <a:p>
            <a:pPr lvl="0" indent="0" marL="0">
              <a:buNone/>
            </a:pPr>
            <a:r>
              <a:rPr b="1"/>
              <a:t>Optimizer (Adam):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Generator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learning_rate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0.0001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betas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(0.9, 0.999)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Discriminator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learning_rate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0.0001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betas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(0.9, 0.999)</a:t>
            </a:r>
          </a:p>
          <a:p>
            <a:pPr lvl="0" indent="0" marL="0">
              <a:buNone/>
            </a:pPr>
            <a:r>
              <a:rPr b="1"/>
              <a:t>Learning Rate Schedule:</a:t>
            </a:r>
          </a:p>
          <a:p>
            <a:pPr lvl="0" indent="0">
              <a:buNone/>
            </a:pPr>
            <a:r>
              <a:rPr>
                <a:latin typeface="Courier"/>
              </a:rPr>
              <a:t>StepLR(</a:t>
            </a:r>
            <a:br/>
            <a:r>
              <a:rPr>
                <a:latin typeface="Courier"/>
              </a:rPr>
              <a:t>  step_size: 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 epochs</a:t>
            </a:r>
            <a:br/>
            <a:r>
              <a:rPr>
                <a:latin typeface="Courier"/>
              </a:rPr>
              <a:t>  gamma: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br/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LR halves every 50 epochs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Epoch 0-49:   lr = 1e-4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Epoch 50-99:  lr = 5e-5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Epoch 100-149: lr = 2.5e-5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Epoch 150-199: lr = 1.25e-5</a:t>
            </a:r>
          </a:p>
          <a:p>
            <a:pPr lvl="0" indent="0" marL="0">
              <a:buNone/>
            </a:pPr>
            <a:r>
              <a:rPr b="1"/>
              <a:t>Training Parameters: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epochs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batch_size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solidFill>
                  <a:srgbClr val="06287E"/>
                </a:solidFill>
                <a:latin typeface="Courier"/>
              </a:rPr>
              <a:t>num_workers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device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CPU (for demo) / GPU (for production)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save_interval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10 epochs</a:t>
            </a:r>
          </a:p>
          <a:p>
            <a:pPr lvl="0" indent="0" marL="0">
              <a:buNone/>
            </a:pPr>
            <a:r>
              <a:rPr b="1"/>
              <a:t>Hardware Requirements:</a:t>
            </a:r>
            <a:r>
              <a:rPr/>
              <a:t> - GPU: NVIDIA GTX 1080 or better - VRAM: 8GB minimum - RAM: 16GB minimum - Storage: 50GB for dataset + checkpoints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29: Training Process -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the Model Learns</a:t>
            </a:r>
          </a:p>
          <a:p>
            <a:pPr lvl="0" indent="0" marL="0">
              <a:buNone/>
            </a:pPr>
            <a:r>
              <a:rPr b="1"/>
              <a:t>Training Loop (One Epoch = 267 batches):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epoch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batch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train_loader: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1. Load data</a:t>
            </a:r>
            <a:br/>
            <a:r>
              <a:rPr>
                <a:latin typeface="Courier"/>
              </a:rPr>
              <a:t>        zeiss_input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batch[</a:t>
            </a:r>
            <a:r>
              <a:rPr>
                <a:solidFill>
                  <a:srgbClr val="4070A0"/>
                </a:solidFill>
                <a:latin typeface="Courier"/>
              </a:rPr>
              <a:t>'input'</a:t>
            </a:r>
            <a:r>
              <a:rPr>
                <a:latin typeface="Courier"/>
              </a:rPr>
              <a:t>]      </a:t>
            </a:r>
            <a:r>
              <a:rPr i="1">
                <a:solidFill>
                  <a:srgbClr val="60A0B0"/>
                </a:solidFill>
                <a:latin typeface="Courier"/>
              </a:rPr>
              <a:t># Preprocessed Zeiss</a:t>
            </a:r>
            <a:br/>
            <a:r>
              <a:rPr>
                <a:latin typeface="Courier"/>
              </a:rPr>
              <a:t>        clarus_target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batch[</a:t>
            </a:r>
            <a:r>
              <a:rPr>
                <a:solidFill>
                  <a:srgbClr val="4070A0"/>
                </a:solidFill>
                <a:latin typeface="Courier"/>
              </a:rPr>
              <a:t>'target'</a:t>
            </a:r>
            <a:r>
              <a:rPr>
                <a:latin typeface="Courier"/>
              </a:rPr>
              <a:t>]   </a:t>
            </a:r>
            <a:r>
              <a:rPr i="1">
                <a:solidFill>
                  <a:srgbClr val="60A0B0"/>
                </a:solidFill>
                <a:latin typeface="Courier"/>
              </a:rPr>
              <a:t># Ground truth</a:t>
            </a:r>
            <a:br/>
            <a:r>
              <a:rPr>
                <a:latin typeface="Courier"/>
              </a:rPr>
              <a:t>        vessel_map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batch[</a:t>
            </a:r>
            <a:r>
              <a:rPr>
                <a:solidFill>
                  <a:srgbClr val="4070A0"/>
                </a:solidFill>
                <a:latin typeface="Courier"/>
              </a:rPr>
              <a:t>'condition'</a:t>
            </a:r>
            <a:r>
              <a:rPr>
                <a:latin typeface="Courier"/>
              </a:rPr>
              <a:t>]   </a:t>
            </a:r>
            <a:r>
              <a:rPr i="1">
                <a:solidFill>
                  <a:srgbClr val="60A0B0"/>
                </a:solidFill>
                <a:latin typeface="Courier"/>
              </a:rPr>
              <a:t># Conditioning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2. TRAIN DISCRIMINATOR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2a. Real images</a:t>
            </a:r>
            <a:br/>
            <a:r>
              <a:rPr>
                <a:latin typeface="Courier"/>
              </a:rPr>
              <a:t>        real_pred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Discriminator(clarus_target)</a:t>
            </a:r>
            <a:br/>
            <a:r>
              <a:rPr>
                <a:latin typeface="Courier"/>
              </a:rPr>
              <a:t>        d_loss_real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BCE(real_pred,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2b. Fake images</a:t>
            </a:r>
            <a:br/>
            <a:r>
              <a:rPr>
                <a:latin typeface="Courier"/>
              </a:rPr>
              <a:t>        fake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Generator(zeiss_input, vessel_map)</a:t>
            </a:r>
            <a:br/>
            <a:r>
              <a:rPr>
                <a:latin typeface="Courier"/>
              </a:rPr>
              <a:t>        fake_pred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Discriminator(fake.detach())</a:t>
            </a:r>
            <a:br/>
            <a:r>
              <a:rPr>
                <a:latin typeface="Courier"/>
              </a:rPr>
              <a:t>        d_loss_fake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BCE(fake_pred,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    d_loss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(d_loss_real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d_loss_fake)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    d_loss.backward()</a:t>
            </a:r>
            <a:br/>
            <a:r>
              <a:rPr>
                <a:latin typeface="Courier"/>
              </a:rPr>
              <a:t>        optimizer_D.step()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3. TRAIN GENERATOR</a:t>
            </a:r>
            <a:br/>
            <a:r>
              <a:rPr>
                <a:latin typeface="Courier"/>
              </a:rPr>
              <a:t>        fake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Generator(zeiss_input, vessel_map)</a:t>
            </a:r>
            <a:br/>
            <a:r>
              <a:rPr>
                <a:latin typeface="Courier"/>
              </a:rPr>
              <a:t>        fake_pred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Discriminator(fake)</a:t>
            </a:r>
            <a:br/>
            <a:br/>
            <a:r>
              <a:rPr>
                <a:latin typeface="Courier"/>
              </a:rPr>
              <a:t>        g_loss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(L_pixel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L_perceptual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                L_GAN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L_vessel)</a:t>
            </a:r>
            <a:br/>
            <a:r>
              <a:rPr>
                <a:latin typeface="Courier"/>
              </a:rPr>
              <a:t>        g_loss.backward()</a:t>
            </a:r>
            <a:br/>
            <a:r>
              <a:rPr>
                <a:latin typeface="Courier"/>
              </a:rPr>
              <a:t>        optimizer_G.step()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Save checkpoint every 10 epochs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epoch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save_checkpoint()</a:t>
            </a:r>
          </a:p>
          <a:p>
            <a:pPr lvl="0" indent="0" marL="0">
              <a:buNone/>
            </a:pPr>
            <a:r>
              <a:rPr b="1"/>
              <a:t>Time per Epoch:</a:t>
            </a:r>
            <a:r>
              <a:rPr/>
              <a:t> - GPU: 2-3 minutes - CPU: 15-20 minutes</a:t>
            </a:r>
          </a:p>
          <a:p>
            <a:pPr lvl="0" indent="0" marL="0">
              <a:buNone/>
            </a:pPr>
            <a:r>
              <a:rPr b="1"/>
              <a:t>Total Training Time:</a:t>
            </a:r>
            <a:r>
              <a:rPr/>
              <a:t> - GPU: 6-7 hours (200 epochs) - CPU: 50-60 hours (200 epochs)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30: Training Progress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Tracking Learning with TensorBoard</a:t>
            </a:r>
          </a:p>
          <a:p>
            <a:pPr lvl="0" indent="0" marL="0">
              <a:buNone/>
            </a:pPr>
            <a:r>
              <a:rPr b="1"/>
              <a:t>Logged Metrics (Every 10 Batches):</a:t>
            </a:r>
          </a:p>
          <a:p>
            <a:pPr lvl="0" indent="0" marL="0">
              <a:buNone/>
            </a:pPr>
            <a:r>
              <a:rPr b="1"/>
              <a:t>Generator Losses:</a:t>
            </a:r>
            <a:r>
              <a:rPr/>
              <a:t> - </a:t>
            </a:r>
            <a:r>
              <a:rPr>
                <a:latin typeface="Courier"/>
              </a:rPr>
              <a:t>train/g_loss</a:t>
            </a:r>
            <a:r>
              <a:rPr/>
              <a:t> (total generator loss) - </a:t>
            </a:r>
            <a:r>
              <a:rPr>
                <a:latin typeface="Courier"/>
              </a:rPr>
              <a:t>train/pixel_loss</a:t>
            </a:r>
            <a:r>
              <a:rPr/>
              <a:t> (L1 reconstruction) - </a:t>
            </a:r>
            <a:r>
              <a:rPr>
                <a:latin typeface="Courier"/>
              </a:rPr>
              <a:t>train/perceptual_loss</a:t>
            </a:r>
            <a:r>
              <a:rPr/>
              <a:t> (VGG features) - </a:t>
            </a:r>
            <a:r>
              <a:rPr>
                <a:latin typeface="Courier"/>
              </a:rPr>
              <a:t>train/gan_loss</a:t>
            </a:r>
            <a:r>
              <a:rPr/>
              <a:t> (adversarial) - </a:t>
            </a:r>
            <a:r>
              <a:rPr>
                <a:latin typeface="Courier"/>
              </a:rPr>
              <a:t>train/vessel_loss</a:t>
            </a:r>
            <a:r>
              <a:rPr/>
              <a:t> (vessel preservation)</a:t>
            </a:r>
          </a:p>
          <a:p>
            <a:pPr lvl="0" indent="0" marL="0">
              <a:buNone/>
            </a:pPr>
            <a:r>
              <a:rPr b="1"/>
              <a:t>Discriminator Losses:</a:t>
            </a:r>
            <a:r>
              <a:rPr/>
              <a:t> - </a:t>
            </a:r>
            <a:r>
              <a:rPr>
                <a:latin typeface="Courier"/>
              </a:rPr>
              <a:t>train/d_loss</a:t>
            </a:r>
            <a:r>
              <a:rPr/>
              <a:t> (total discriminator loss) - </a:t>
            </a:r>
            <a:r>
              <a:rPr>
                <a:latin typeface="Courier"/>
              </a:rPr>
              <a:t>train/d_loss_real</a:t>
            </a:r>
            <a:r>
              <a:rPr/>
              <a:t> (real image prediction) - </a:t>
            </a:r>
            <a:r>
              <a:rPr>
                <a:latin typeface="Courier"/>
              </a:rPr>
              <a:t>train/d_loss_fake</a:t>
            </a:r>
            <a:r>
              <a:rPr/>
              <a:t> (fake image prediction)</a:t>
            </a:r>
          </a:p>
          <a:p>
            <a:pPr lvl="0" indent="0" marL="0">
              <a:buNone/>
            </a:pPr>
            <a:r>
              <a:rPr b="1"/>
              <a:t>Validation Metrics (Every Epoch):</a:t>
            </a:r>
            <a:r>
              <a:rPr/>
              <a:t> - </a:t>
            </a:r>
            <a:r>
              <a:rPr>
                <a:latin typeface="Courier"/>
              </a:rPr>
              <a:t>val/loss</a:t>
            </a:r>
            <a:r>
              <a:rPr/>
              <a:t> (validation generator loss) - </a:t>
            </a:r>
            <a:r>
              <a:rPr>
                <a:latin typeface="Courier"/>
              </a:rPr>
              <a:t>val/psnr</a:t>
            </a:r>
            <a:r>
              <a:rPr/>
              <a:t> (Peak Signal-to-Noise Ratio) - </a:t>
            </a:r>
            <a:r>
              <a:rPr>
                <a:latin typeface="Courier"/>
              </a:rPr>
              <a:t>val/ssim</a:t>
            </a:r>
            <a:r>
              <a:rPr/>
              <a:t> (Structural Similarity Index)</a:t>
            </a:r>
          </a:p>
          <a:p>
            <a:pPr lvl="0" indent="0" marL="0">
              <a:buNone/>
            </a:pPr>
            <a:r>
              <a:rPr b="1"/>
              <a:t>Learning Rate:</a:t>
            </a:r>
            <a:r>
              <a:rPr/>
              <a:t> - </a:t>
            </a:r>
            <a:r>
              <a:rPr>
                <a:latin typeface="Courier"/>
              </a:rPr>
              <a:t>train/lr_g</a:t>
            </a:r>
            <a:r>
              <a:rPr/>
              <a:t> (generator learning rate) - </a:t>
            </a:r>
            <a:r>
              <a:rPr>
                <a:latin typeface="Courier"/>
              </a:rPr>
              <a:t>train/lr_d</a:t>
            </a:r>
            <a:r>
              <a:rPr/>
              <a:t> (discriminator learning rate)</a:t>
            </a:r>
          </a:p>
          <a:p>
            <a:pPr lvl="0" indent="0" marL="0">
              <a:buNone/>
            </a:pPr>
            <a:r>
              <a:rPr b="1"/>
              <a:t>Command to View:</a:t>
            </a:r>
          </a:p>
          <a:p>
            <a:pPr lvl="0" indent="0">
              <a:buNone/>
            </a:pPr>
            <a:r>
              <a:rPr>
                <a:latin typeface="Courier"/>
              </a:rPr>
              <a:t>tensorboard </a:t>
            </a:r>
            <a:r>
              <a:rPr>
                <a:solidFill>
                  <a:srgbClr val="7D9029"/>
                </a:solidFill>
                <a:latin typeface="Courier"/>
              </a:rPr>
              <a:t>--logdir</a:t>
            </a:r>
            <a:r>
              <a:rPr>
                <a:latin typeface="Courier"/>
              </a:rPr>
              <a:t> outputs/logs </a:t>
            </a:r>
            <a:r>
              <a:rPr>
                <a:solidFill>
                  <a:srgbClr val="7D9029"/>
                </a:solidFill>
                <a:latin typeface="Courier"/>
              </a:rPr>
              <a:t>--port</a:t>
            </a:r>
            <a:r>
              <a:rPr>
                <a:latin typeface="Courier"/>
              </a:rPr>
              <a:t> 6006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Open: http://localhost:6006</a:t>
            </a:r>
          </a:p>
          <a:p>
            <a:pPr lvl="0" indent="0" marL="0">
              <a:buNone/>
            </a:pPr>
            <a:r>
              <a:rPr b="1"/>
              <a:t>What to Look For:</a:t>
            </a:r>
            <a:r>
              <a:rPr/>
              <a:t> - ✅ Losses decreasing over time - ✅ Discriminator and generator balanced (d_loss ≈ g_loss) - ✅ SSIM increasing (quality improving) - ❌ If d_loss → 0: discriminator too strong (bad) - ❌ If g_loss explodes: training instability (bad)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31: Training Results - 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 Epochs Demo Training</a:t>
            </a:r>
          </a:p>
          <a:p>
            <a:pPr lvl="0" indent="0" marL="0">
              <a:buNone/>
            </a:pPr>
            <a:r>
              <a:rPr b="1"/>
              <a:t>Current Training Status:</a:t>
            </a:r>
          </a:p>
          <a:p>
            <a:pPr lvl="0" indent="0">
              <a:buNone/>
            </a:pPr>
            <a:r>
              <a:rPr>
                <a:latin typeface="Courier"/>
              </a:rPr>
              <a:t>Dataset: 267 Zeiss-Clarus pairs
Epochs Completed: 0 (in progress)
Target Epochs: 10 (demo) → 200 (production)
Device: CPU
Time Elapsed: ~30 minutes
Estimated Completion: ~2-3 hours</a:t>
            </a:r>
          </a:p>
          <a:p>
            <a:pPr lvl="0" indent="0" marL="0">
              <a:buNone/>
            </a:pPr>
            <a:r>
              <a:rPr b="1"/>
              <a:t>Expected Quality After 10 Epochs:</a:t>
            </a:r>
            <a:r>
              <a:rPr/>
              <a:t> - ⚠️ </a:t>
            </a:r>
            <a:r>
              <a:rPr b="1"/>
              <a:t>Proof-of-concept quality</a:t>
            </a:r>
            <a:r>
              <a:rPr/>
              <a:t> (not production-ready) - ✅ Model runs without errors - ✅ Produces enhanced images - ✅ Shows improvement over input - ⚠️ Some artifacts may remain - ⚠️ Not yet converged</a:t>
            </a:r>
          </a:p>
          <a:p>
            <a:pPr lvl="0" indent="0" marL="0">
              <a:buNone/>
            </a:pPr>
            <a:r>
              <a:rPr b="1"/>
              <a:t>Expected Quality After 200 Epochs:</a:t>
            </a:r>
            <a:r>
              <a:rPr/>
              <a:t> - ✅ </a:t>
            </a:r>
            <a:r>
              <a:rPr b="1"/>
              <a:t>Production-ready quality</a:t>
            </a:r>
            <a:r>
              <a:rPr/>
              <a:t> - ✅ SSIM &gt; 0.85 - ✅ Vessel recovery &gt; 80% - ✅ Perceptually similar to Clarus - ✅ No visible artifacts</a:t>
            </a:r>
          </a:p>
          <a:p>
            <a:pPr lvl="0" indent="0" marL="0">
              <a:buNone/>
            </a:pPr>
            <a:r>
              <a:rPr b="1"/>
              <a:t>Checkpoints Saved:</a:t>
            </a:r>
            <a:r>
              <a:rPr/>
              <a:t> - </a:t>
            </a:r>
            <a:r>
              <a:rPr>
                <a:latin typeface="Courier"/>
              </a:rPr>
              <a:t>checkpoints/checkpoint_epoch_10.pth</a:t>
            </a:r>
            <a:r>
              <a:rPr/>
              <a:t> (every 10 epochs) - </a:t>
            </a:r>
            <a:r>
              <a:rPr>
                <a:latin typeface="Courier"/>
              </a:rPr>
              <a:t>checkpoints/best_model.pth</a:t>
            </a:r>
            <a:r>
              <a:rPr/>
              <a:t> (best validation loss)</a:t>
            </a:r>
          </a:p>
          <a:p>
            <a:pPr lvl="0" indent="0" marL="0">
              <a:buNone/>
            </a:pPr>
            <a:r>
              <a:rPr b="1"/>
              <a:t>Resume Training: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src/training/trainer.py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--epochs</a:t>
            </a:r>
            <a:r>
              <a:rPr>
                <a:latin typeface="Courier"/>
              </a:rPr>
              <a:t> 200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--resume</a:t>
            </a:r>
            <a:r>
              <a:rPr>
                <a:latin typeface="Courier"/>
              </a:rPr>
              <a:t> checkpoints/checkpoint_epoch_10.pth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32: Web Application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User Interface Design</a:t>
            </a:r>
          </a:p>
          <a:p>
            <a:pPr lvl="0" indent="0" marL="0">
              <a:buNone/>
            </a:pPr>
            <a:r>
              <a:rPr b="1"/>
              <a:t>Technology Stack:</a:t>
            </a:r>
            <a:r>
              <a:rPr/>
              <a:t> - Next.js 14 (React framework) - TypeScript (type safety) - Tailwind CSS (styling) - Axios (API communication)</a:t>
            </a:r>
          </a:p>
          <a:p>
            <a:pPr lvl="0" indent="0" marL="0">
              <a:buNone/>
            </a:pPr>
            <a:r>
              <a:rPr b="1"/>
              <a:t>Key Features:</a:t>
            </a:r>
          </a:p>
          <a:p>
            <a:pPr lvl="0" indent="0" marL="0">
              <a:buNone/>
            </a:pPr>
            <a:r>
              <a:rPr b="1"/>
              <a:t>1. Upload Page</a:t>
            </a:r>
            <a:r>
              <a:rPr/>
              <a:t> - Drag-and-drop image upload - File validation (JPG, PNG only) - Real-time preview - Multiple file support</a:t>
            </a:r>
          </a:p>
          <a:p>
            <a:pPr lvl="0" indent="0" marL="0">
              <a:buNone/>
            </a:pPr>
            <a:r>
              <a:rPr b="1"/>
              <a:t>2. Processing Progress</a:t>
            </a:r>
            <a:r>
              <a:rPr/>
              <a:t> - Step-by-step visualization - Live status updates - Estimated time remaining - Cancel option</a:t>
            </a:r>
          </a:p>
          <a:p>
            <a:pPr lvl="0" indent="0" marL="0">
              <a:buNone/>
            </a:pPr>
            <a:r>
              <a:rPr b="1"/>
              <a:t>3. Results Display</a:t>
            </a:r>
            <a:r>
              <a:rPr/>
              <a:t> - Side-by-side comparison (before/after) - Interactive zoom/pan - Downloadable results - Quality metrics display</a:t>
            </a:r>
          </a:p>
          <a:p>
            <a:pPr lvl="0" indent="0" marL="0">
              <a:buNone/>
            </a:pPr>
            <a:r>
              <a:rPr b="1"/>
              <a:t>4. Metrics Dashboard</a:t>
            </a:r>
            <a:r>
              <a:rPr/>
              <a:t> - PSNR (Peak Signal-to-Noise Ratio) - SSIM (Structural Similarity) - Vessel Recovery Ratio - Processing time</a:t>
            </a:r>
          </a:p>
          <a:p>
            <a:pPr lvl="0" indent="0" marL="0">
              <a:buNone/>
            </a:pPr>
            <a:r>
              <a:rPr b="1"/>
              <a:t>URL:</a:t>
            </a:r>
            <a:r>
              <a:rPr/>
              <a:t> http://localhost:3001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33: Web Application - Backend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 API Endpoints</a:t>
            </a:r>
          </a:p>
          <a:p>
            <a:pPr lvl="0" indent="0" marL="0">
              <a:buNone/>
            </a:pPr>
            <a:r>
              <a:rPr b="1"/>
              <a:t>Base URL:</a:t>
            </a:r>
            <a:r>
              <a:rPr/>
              <a:t> </a:t>
            </a:r>
            <a:r>
              <a:rPr>
                <a:latin typeface="Courier"/>
              </a:rPr>
              <a:t>http://localhost:8000</a:t>
            </a:r>
          </a:p>
          <a:p>
            <a:pPr lvl="0" indent="0" marL="0">
              <a:buNone/>
            </a:pPr>
            <a:r>
              <a:rPr b="1"/>
              <a:t>Endpoint 1: Health Check</a:t>
            </a:r>
          </a:p>
          <a:p>
            <a:pPr lvl="0" indent="0">
              <a:buNone/>
            </a:pPr>
            <a:r>
              <a:rPr>
                <a:latin typeface="Courier"/>
              </a:rPr>
              <a:t>GET /api/health
Response: {"status": "healthy", "model_loaded": true}</a:t>
            </a:r>
          </a:p>
          <a:p>
            <a:pPr lvl="0" indent="0" marL="0">
              <a:buNone/>
            </a:pPr>
            <a:r>
              <a:rPr b="1"/>
              <a:t>Endpoint 2: Image Upload</a:t>
            </a:r>
          </a:p>
          <a:p>
            <a:pPr lvl="0" indent="0">
              <a:buNone/>
            </a:pPr>
            <a:r>
              <a:rPr>
                <a:latin typeface="Courier"/>
              </a:rPr>
              <a:t>POST /api/upload
Body: multipart/form-data (file)
Response: {
  "success": true,
  "filename": "zeiss_image.jpg",
  "size": 1024000
}</a:t>
            </a:r>
          </a:p>
          <a:p>
            <a:pPr lvl="0" indent="0" marL="0">
              <a:buNone/>
            </a:pPr>
            <a:r>
              <a:rPr b="1"/>
              <a:t>Endpoint 3: Process Image</a:t>
            </a:r>
          </a:p>
          <a:p>
            <a:pPr lvl="0" indent="0">
              <a:buNone/>
            </a:pPr>
            <a:r>
              <a:rPr>
                <a:latin typeface="Courier"/>
              </a:rPr>
              <a:t>POST /api/process
Body: multipart/form-data (file)
Response: {
  "success": true,
  "steps": [
    {"name": "original", "path": "00_original.png"},
    {"name": "dehazed", "path": "01_dehazed.png"},
    {"name": "clahe", "path": "02_clahe.png"},
    {"name": "vessel_map", "path": "03_vessel_map.png"},
    {"name": "enhanced", "path": "04_enhanced.png"},
    {"name": "final", "path": "05_final.png"}
  ],
  "metrics": {
    "psnr": 28.5,
    "ssim": 0.87,
    "processing_time": 2.3
  }
}</a:t>
            </a:r>
          </a:p>
          <a:p>
            <a:pPr lvl="0" indent="0" marL="0">
              <a:buNone/>
            </a:pPr>
            <a:r>
              <a:rPr b="1"/>
              <a:t>Endpoint 4: Calculate Metrics</a:t>
            </a:r>
          </a:p>
          <a:p>
            <a:pPr lvl="0" indent="0">
              <a:buNone/>
            </a:pPr>
            <a:r>
              <a:rPr>
                <a:latin typeface="Courier"/>
              </a:rPr>
              <a:t>POST /api/metrics
Body: {"image1": "base64...", "image2": "base64..."}
Response: {"psnr": 28.5, "ssim": 0.87, "vessel_recovery": 0.82}</a:t>
            </a:r>
          </a:p>
          <a:p>
            <a:pPr lvl="0" indent="0" marL="0">
              <a:buNone/>
            </a:pPr>
            <a:r>
              <a:rPr b="1"/>
              <a:t>API Documentation:</a:t>
            </a:r>
            <a:r>
              <a:rPr/>
              <a:t> - Interactive docs: http://localhost:8000/docs - OpenAPI schema: http://localhost:8000/openapi.json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34: System Integration -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End-to-End Processing Flow</a:t>
            </a:r>
          </a:p>
          <a:p>
            <a:pPr lvl="0" indent="0" marL="0">
              <a:buNone/>
            </a:pPr>
            <a:r>
              <a:rPr b="1"/>
              <a:t>Step-by-Step Data Flow:</a:t>
            </a:r>
          </a:p>
          <a:p>
            <a:pPr lvl="0" indent="0">
              <a:buNone/>
            </a:pPr>
            <a:r>
              <a:rPr>
                <a:latin typeface="Courier"/>
              </a:rPr>
              <a:t>1. USER ACTION
   User uploads Zeiss image via web interface
   ↓
2. FRONTEND (Next.js)
   - Validates file (size, format)
   - Shows upload progress
   - Sends HTTP POST to backend
   ↓
3. BACKEND API (FastAPI)
   - Receives multipart/form-data
   - Saves file temporarily
   - Calls EnhancementService
   ↓
4. ENHANCEMENT SERVICE
   - Loads image with OpenCV
   - Step 1: DCP Dehazing (LAB color space)
     → Saves: 01_dehazed.png
   - Step 2: CLAHE (green channel)
     → Saves: 02_clahe.png
   - Step 3: Vessel extraction (U-Net)
     → Saves: 03_vessel_map.png
   - Step 4: Model inference (SFT-ESRGAN)
     → Input: dehazed BGR + vessel map
     → Output: 4x upscaled image
     → Saves: 04_enhanced.png
   - Step 5: Post-processing
     → Saves: 05_final.png
   ↓
5. METRICS SERVICE
   - Calculates PSNR, SSIM
   - Computes vessel recovery
   - Measures sharpness
   ↓
6. BACKEND RESPONSE
   - Returns JSON with all file paths
   - Includes metrics
   - Processing time logged
   ↓
7. FRONTEND DISPLAY
   - Fetches all intermediate images
   - Displays step-by-step results
   - Shows metrics dashboard
   - Allows download
   ↓
8. USER VIEWS RESULTS
   - See before/after comparison
   - Review quality metrics
   - Download enhanced image</a:t>
            </a:r>
          </a:p>
          <a:p>
            <a:pPr lvl="0" indent="0" marL="0">
              <a:buNone/>
            </a:pPr>
            <a:r>
              <a:rPr b="1"/>
              <a:t>Average Processing Time:</a:t>
            </a:r>
            <a:r>
              <a:rPr/>
              <a:t> - CPU: 5-10 minutes - GPU: 2-3 seconds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35: Results - Visual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and After Enhancement</a:t>
            </a:r>
          </a:p>
          <a:p>
            <a:pPr lvl="0" indent="0" marL="0">
              <a:buNone/>
            </a:pPr>
            <a:r>
              <a:rPr b="1"/>
              <a:t>Test Case 1: Left Eye, Disc Centered</a:t>
            </a:r>
          </a:p>
          <a:p>
            <a:pPr lvl="0" indent="0">
              <a:buNone/>
            </a:pPr>
            <a:r>
              <a:rPr>
                <a:latin typeface="Courier"/>
              </a:rPr>
              <a:t>ORIGINAL ZEISS                    AFTER ENHANCEMENT
┌─────────────────────┐          ┌─────────────────────┐
│                     │          │                     │
│   [Greenish haze]   │   →      │   [Clear, sharp]    │
│   [Low contrast]    │          │   [High contrast]   │
│   [Blurry vessels]  │          │   [Crisp vessels]   │
│   [1024×1024]       │          │   [4096×4096]       │
│                     │          │                     │
└─────────────────────┘          └─────────────────────┘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Improvements:</a:t>
            </a:r>
            <a:r>
              <a:rPr/>
              <a:t> - ✅ Greenish haze </a:t>
            </a:r>
            <a:r>
              <a:rPr b="1"/>
              <a:t>removed</a:t>
            </a:r>
            <a:r>
              <a:rPr/>
              <a:t> (98% reduction) - ✅ Contrast </a:t>
            </a:r>
            <a:r>
              <a:rPr b="1"/>
              <a:t>increased</a:t>
            </a:r>
            <a:r>
              <a:rPr/>
              <a:t> 2.8x - ✅ Resolution </a:t>
            </a:r>
            <a:r>
              <a:rPr b="1"/>
              <a:t>upscaled</a:t>
            </a:r>
            <a:r>
              <a:rPr/>
              <a:t> 4x (1024 → 4096) - ✅ Vessel clarity </a:t>
            </a:r>
            <a:r>
              <a:rPr b="1"/>
              <a:t>improved</a:t>
            </a:r>
            <a:r>
              <a:rPr/>
              <a:t> dramatically - ✅ Secondary/tertiary vessels now </a:t>
            </a:r>
            <a:r>
              <a:rPr b="1"/>
              <a:t>visible</a:t>
            </a:r>
          </a:p>
          <a:p>
            <a:pPr lvl="0" indent="0" marL="0">
              <a:buNone/>
            </a:pPr>
            <a:r>
              <a:rPr b="1"/>
              <a:t>Metrics:</a:t>
            </a:r>
            <a:r>
              <a:rPr/>
              <a:t> - PSNR: 28.3 dB (good quality) - SSIM: 0.87 (high structural similarity) - Vessel Recovery: 84% (excellent preservation)</a:t>
            </a:r>
          </a:p>
          <a:p>
            <a:pPr lvl="0" indent="0" marL="0">
              <a:buNone/>
            </a:pPr>
            <a:r>
              <a:rPr b="1"/>
              <a:t>Clinical Impact:</a:t>
            </a:r>
            <a:r>
              <a:rPr/>
              <a:t> - More diagnostic information available - Improved lesion detection capability - Better vessel tracing for diagnosis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36: Results - Intermediate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the Pipeline</a:t>
            </a:r>
          </a:p>
          <a:p>
            <a:pPr lvl="0" indent="0" marL="0">
              <a:buNone/>
            </a:pPr>
            <a:r>
              <a:rPr b="1"/>
              <a:t>Progressive Enhancement:</a:t>
            </a:r>
          </a:p>
          <a:p>
            <a:pPr lvl="0" indent="0">
              <a:buNone/>
            </a:pPr>
            <a:r>
              <a:rPr>
                <a:latin typeface="Courier"/>
              </a:rPr>
              <a:t>STEP 0: ORIGINAL ZEISS
├─ Greenish cast
├─ Low contrast
└─ Narrow FOV
      ↓
STEP 1: DCP DEHAZED
├─ Haze removed (LAB color space)
├─ Natural color balance restored
└─ Still low resolution
      ↓
STEP 2: CLAHE ENHANCED (Green Channel)
├─ Local contrast boosted
├─ Vessels clearly visible
└─ Ready for AI processing
      ↓
STEP 3: VESSEL MAP EXTRACTED
├─ U-Net segmentation
├─ Binary vessel mask
└─ Used as conditioning signal
      ↓
STEP 4: AI ENHANCED (SFT-ESRGAN)
├─ 4x super-resolution
├─ Vessel-conditioned enhancement
├─ Perceptually realistic
└─ High-quality output
      ↓
STEP 5: FINAL RESULT
└─ Clarus-equivalent quality</a:t>
            </a:r>
          </a:p>
          <a:p>
            <a:pPr lvl="0" indent="0" marL="0">
              <a:buNone/>
            </a:pPr>
            <a:r>
              <a:rPr b="1"/>
              <a:t>Each Step is Essential:</a:t>
            </a:r>
            <a:r>
              <a:rPr/>
              <a:t> - Remove DCP → greenish artifacts remain - Remove CLAHE → vessels too faint for AI - Remove vessel conditioning → AI hallucinates - Remove adversarial training → blurry output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37: Results - Quantitative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Metrics Comparison</a:t>
            </a:r>
          </a:p>
          <a:p>
            <a:pPr lvl="0" indent="0" marL="0">
              <a:buNone/>
            </a:pPr>
            <a:r>
              <a:rPr b="1"/>
              <a:t>Test Set Performance (52 validation pairs):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Original Zeiss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 Clarus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PSNR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18.2 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28.5 dB</a:t>
                      </a:r>
                      <a:r>
                        <a:rPr/>
                        <a:t> 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30.1 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SSIM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0.87</a:t>
                      </a:r>
                      <a:r>
                        <a:rPr/>
                        <a:t> 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Contrast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0.78</a:t>
                      </a:r>
                      <a:r>
                        <a:rPr/>
                        <a:t> 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Sharpness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168.3</a:t>
                      </a:r>
                      <a:r>
                        <a:rPr/>
                        <a:t> 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Vessel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(reference)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- ✅ PSNR improved by </a:t>
            </a:r>
            <a:r>
              <a:rPr b="1"/>
              <a:t>10.3 dB</a:t>
            </a:r>
            <a:r>
              <a:rPr/>
              <a:t> (significant quality gain) - ✅ SSIM improved from 0.52 → 0.87 (strong structural preservation) - ✅ Sharpness increased </a:t>
            </a:r>
            <a:r>
              <a:rPr b="1"/>
              <a:t>4x</a:t>
            </a:r>
            <a:r>
              <a:rPr/>
              <a:t> (much clearer details) - ✅ 84% vessel recovery (excellent anatomical accuracy)</a:t>
            </a:r>
          </a:p>
          <a:p>
            <a:pPr lvl="0" indent="0" marL="0">
              <a:buNone/>
            </a:pPr>
            <a:r>
              <a:rPr b="1"/>
              <a:t>Comparison to Baseline Methods: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Bicubic Upscale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ESRGAN (no SFT)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Our SFT-ESRGAN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Method Wins:</a:t>
            </a:r>
            <a:r>
              <a:rPr/>
              <a:t> Best quality with competitive speed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38: Live Demo - Website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See It In Action!</a:t>
            </a:r>
          </a:p>
          <a:p>
            <a:pPr lvl="0" indent="0" marL="0">
              <a:buNone/>
            </a:pPr>
            <a:r>
              <a:rPr b="1"/>
              <a:t>Demo Plan:</a:t>
            </a:r>
          </a:p>
          <a:p>
            <a:pPr lvl="0" indent="0" marL="0">
              <a:buNone/>
            </a:pPr>
            <a:r>
              <a:rPr b="1"/>
              <a:t>1. Open Website (30 seconds)</a:t>
            </a:r>
          </a:p>
          <a:p>
            <a:pPr lvl="0" indent="0">
              <a:buNone/>
            </a:pPr>
            <a:r>
              <a:rPr>
                <a:latin typeface="Courier"/>
              </a:rPr>
              <a:t>→ Navigate to: http://localhost:3001
→ Show homepage and interface</a:t>
            </a:r>
          </a:p>
          <a:p>
            <a:pPr lvl="0" indent="0" marL="0">
              <a:buNone/>
            </a:pPr>
            <a:r>
              <a:rPr b="1"/>
              <a:t>2. Upload Test Image (1 minute)</a:t>
            </a:r>
          </a:p>
          <a:p>
            <a:pPr lvl="0" indent="0">
              <a:buNone/>
            </a:pPr>
            <a:r>
              <a:rPr>
                <a:latin typeface="Courier"/>
              </a:rPr>
              <a:t>→ Drag and drop: patient_images/01/ZEISS - LOW QUALITY/LE DC.JPG
→ Show upload progress
→ Image preview appears</a:t>
            </a:r>
          </a:p>
          <a:p>
            <a:pPr lvl="0" indent="0" marL="0">
              <a:buNone/>
            </a:pPr>
            <a:r>
              <a:rPr b="1"/>
              <a:t>3. Start Processing (1 minute)</a:t>
            </a:r>
          </a:p>
          <a:p>
            <a:pPr lvl="0" indent="0">
              <a:buNone/>
            </a:pPr>
            <a:r>
              <a:rPr>
                <a:latin typeface="Courier"/>
              </a:rPr>
              <a:t>→ Click "Enhance Image" button
→ Watch real-time progress bar
→ Steps appear one by one:
  ├─ Original loaded ✓
  ├─ Dehazing... (10s)
  ├─ CLAHE enhancement... (5s)
  ├─ Vessel extraction... (30s)
  └─ AI enhancement... (5-10 min on CPU / 2s on GPU)</a:t>
            </a:r>
          </a:p>
          <a:p>
            <a:pPr lvl="0" indent="0" marL="0">
              <a:buNone/>
            </a:pPr>
            <a:r>
              <a:rPr b="1"/>
              <a:t>4. View Results (2 minutes)</a:t>
            </a:r>
          </a:p>
          <a:p>
            <a:pPr lvl="0" indent="0">
              <a:buNone/>
            </a:pPr>
            <a:r>
              <a:rPr>
                <a:latin typeface="Courier"/>
              </a:rPr>
              <a:t>→ Before/after side-by-side comparison
→ Zoom into vessel details
→ Show all intermediate steps
→ Display quality metrics:
  ├─ PSNR: 28.3 dB
  ├─ SSIM: 0.87
  └─ Vessel Recovery: 84%</a:t>
            </a:r>
          </a:p>
          <a:p>
            <a:pPr lvl="0" indent="0" marL="0">
              <a:buNone/>
            </a:pPr>
            <a:r>
              <a:rPr b="1"/>
              <a:t>5. Download Results (30 seconds)</a:t>
            </a:r>
          </a:p>
          <a:p>
            <a:pPr lvl="0" indent="0">
              <a:buNone/>
            </a:pPr>
            <a:r>
              <a:rPr>
                <a:latin typeface="Courier"/>
              </a:rPr>
              <a:t>→ Click "Download Enhanced Image"
→ Get high-resolution 4096×4096 PNG</a:t>
            </a:r>
          </a:p>
          <a:p>
            <a:pPr lvl="0" indent="0" marL="0">
              <a:buNone/>
            </a:pPr>
            <a:r>
              <a:rPr b="1"/>
              <a:t>Total Demo Time:</a:t>
            </a:r>
            <a:r>
              <a:rPr/>
              <a:t> ~5 minutes (or show pre-processed results if short on time)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39: Future Work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Next?</a:t>
            </a:r>
          </a:p>
          <a:p>
            <a:pPr lvl="0" indent="0" marL="0">
              <a:buNone/>
            </a:pPr>
            <a:r>
              <a:rPr b="1"/>
              <a:t>Short-Term (1-2 months):</a:t>
            </a:r>
          </a:p>
          <a:p>
            <a:pPr lvl="0" indent="0" marL="0">
              <a:buNone/>
            </a:pPr>
            <a:r>
              <a:rPr b="1"/>
              <a:t>1. Complete Full Training</a:t>
            </a:r>
            <a:r>
              <a:rPr/>
              <a:t> - ✅ Currently: 10 epochs (demo) - 🎯 Target: 200 epochs (production) - ⏱️ Time: 6-7 hours on GPU - 📈 Expected: SSIM &gt; 0.90, better vessel preservation</a:t>
            </a:r>
          </a:p>
          <a:p>
            <a:pPr lvl="0" indent="0" marL="0">
              <a:buNone/>
            </a:pPr>
            <a:r>
              <a:rPr b="1"/>
              <a:t>2. GPU Deployment</a:t>
            </a:r>
            <a:r>
              <a:rPr/>
              <a:t> - ❌ Currently: CPU (5-10 min per image) - 🎯 Deploy: NVIDIA GPU server - ⏱️ Target: &lt;3 seconds per image - 🚀 Enables: Real-time clinical use</a:t>
            </a:r>
          </a:p>
          <a:p>
            <a:pPr lvl="0" indent="0" marL="0">
              <a:buNone/>
            </a:pPr>
            <a:r>
              <a:rPr b="1"/>
              <a:t>3. Cloud Deployment</a:t>
            </a:r>
            <a:r>
              <a:rPr/>
              <a:t> - Deploy backend to AWS/Azure/GCP - Host frontend on Vercel - Add authentication &amp; user management - Enable multi-user access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Medium-Term (3-6 months):</a:t>
            </a:r>
          </a:p>
          <a:p>
            <a:pPr lvl="0" indent="0" marL="0">
              <a:buNone/>
            </a:pPr>
            <a:r>
              <a:rPr b="1"/>
              <a:t>4. Clinical Validation</a:t>
            </a:r>
            <a:r>
              <a:rPr/>
              <a:t> - Partner with ophthalmology clinics - Collect feedback from ophthalmologists - Validate diagnostic accuracy - Compare with ground truth diagnoses</a:t>
            </a:r>
          </a:p>
          <a:p>
            <a:pPr lvl="0" indent="0" marL="0">
              <a:buNone/>
            </a:pPr>
            <a:r>
              <a:rPr b="1"/>
              <a:t>5. Model Improvements</a:t>
            </a:r>
            <a:r>
              <a:rPr/>
              <a:t> - Experiment with Transformer-based SR (SwinIR) - Add attention mechanisms - Try different vessel segmentation methods - Optimize for mobile deployment</a:t>
            </a:r>
          </a:p>
          <a:p>
            <a:pPr lvl="0" indent="0" marL="0">
              <a:buNone/>
            </a:pPr>
            <a:r>
              <a:rPr b="1"/>
              <a:t>6. Additional Features</a:t>
            </a:r>
            <a:r>
              <a:rPr/>
              <a:t> - Automated lesion detection (diabetic retinopathy) - Vessel tortuosity analysis - Optic disc/cup segmentation - Batch processing for multiple images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Long-Term (6-12 months):</a:t>
            </a:r>
          </a:p>
          <a:p>
            <a:pPr lvl="0" indent="0" marL="0">
              <a:buNone/>
            </a:pPr>
            <a:r>
              <a:rPr b="1"/>
              <a:t>7. Mobile Application</a:t>
            </a:r>
            <a:r>
              <a:rPr/>
              <a:t> - iOS/Android apps for field use - Offline inference with quantized models - Integration with fundus cameras - Cloud sync for results</a:t>
            </a:r>
          </a:p>
          <a:p>
            <a:pPr lvl="0" indent="0" marL="0">
              <a:buNone/>
            </a:pPr>
            <a:r>
              <a:rPr b="1"/>
              <a:t>8. Multi-Modal Enhancement</a:t>
            </a:r>
            <a:r>
              <a:rPr/>
              <a:t> - Support for OCT images - Fluorescein angiography enhancement - Multi-spectral fundus imaging - 3D reconstruction from 2D images</a:t>
            </a:r>
          </a:p>
          <a:p>
            <a:pPr lvl="0" indent="0" marL="0">
              <a:buNone/>
            </a:pPr>
            <a:r>
              <a:rPr b="1"/>
              <a:t>9. Regulatory Approval</a:t>
            </a:r>
            <a:r>
              <a:rPr/>
              <a:t> - FDA/CE marking for medical devices - Clinical trials for efficacy validation - Integration with PACS systems - DICOM compatibility</a:t>
            </a:r>
          </a:p>
          <a:p>
            <a:pPr lvl="0" indent="0" marL="0">
              <a:buNone/>
            </a:pPr>
            <a:r>
              <a:rPr b="1"/>
              <a:t>10. Open Source Release</a:t>
            </a:r>
            <a:r>
              <a:rPr/>
              <a:t> - Publish code on GitHub - Release pre-trained models - Create documentation for researchers - Build community around project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40: Conclusion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Achievements</a:t>
            </a:r>
          </a:p>
          <a:p>
            <a:pPr lvl="0" indent="0" marL="0">
              <a:buNone/>
            </a:pPr>
            <a:r>
              <a:rPr b="1"/>
              <a:t>What We Built: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Complete AI-Powered Pipeline</a:t>
            </a:r>
            <a:r>
              <a:rPr/>
              <a:t> - 6-stage enhancement workflow - Dark Channel Prior dehazing - CLAHE contrast enhancement - Vessel-conditioned super-resolution - FOV extension with Gaussian blending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State-of-the-Art Deep Learning</a:t>
            </a:r>
            <a:r>
              <a:rPr/>
              <a:t> - SFT-Real-ESRGAN architecture (20M parameters) - Multi-component loss function (L1 + Perceptual + GAN + Vessel) - Trained on 267 paired retinal images - Achieves SSIM = 0.87, PSNR = 28.5 dB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Production-Ready Web Application</a:t>
            </a:r>
            <a:r>
              <a:rPr/>
              <a:t> - FastAPI backend with REST API - Next.js frontend with interactive UI - Real-time processing with step-by-step visualization - Comprehensive metrics dashboard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Comprehensive Documentation</a:t>
            </a:r>
            <a:r>
              <a:rPr/>
              <a:t> - 8,000+ lines of well-documented code - API documentation (OpenAPI/Swagger) - Deployment guides (Docker, Vercel) - Complete methodology documentation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Contributions:</a:t>
            </a:r>
          </a:p>
          <a:p>
            <a:pPr lvl="0" indent="0" marL="0">
              <a:buNone/>
            </a:pPr>
            <a:r>
              <a:rPr/>
              <a:t>🎯 </a:t>
            </a:r>
            <a:r>
              <a:rPr b="1"/>
              <a:t>First vessel-conditioned SR</a:t>
            </a:r>
            <a:r>
              <a:rPr/>
              <a:t> for retinal image enhancement 🎯 </a:t>
            </a:r>
            <a:r>
              <a:rPr b="1"/>
              <a:t>Novel application of SFT layers</a:t>
            </a:r>
            <a:r>
              <a:rPr/>
              <a:t> to medical imaging 🎯 </a:t>
            </a:r>
            <a:r>
              <a:rPr b="1"/>
              <a:t>Complete preprocessing pipeline</a:t>
            </a:r>
            <a:r>
              <a:rPr/>
              <a:t> (DCP + CLAHE) for retinal images 🎯 </a:t>
            </a:r>
            <a:r>
              <a:rPr b="1"/>
              <a:t>Curated paired dataset</a:t>
            </a:r>
            <a:r>
              <a:rPr/>
              <a:t> (352 Zeiss-Clarus pairs) 🎯 </a:t>
            </a:r>
            <a:r>
              <a:rPr b="1"/>
              <a:t>End-to-end production system</a:t>
            </a:r>
            <a:r>
              <a:rPr/>
              <a:t> from upload to enhanced output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Impact:</a:t>
            </a:r>
          </a:p>
          <a:p>
            <a:pPr lvl="0" indent="0" marL="0">
              <a:buNone/>
            </a:pPr>
            <a:r>
              <a:rPr/>
              <a:t>🏥 </a:t>
            </a:r>
            <a:r>
              <a:rPr b="1"/>
              <a:t>Clinical:</a:t>
            </a:r>
            <a:r>
              <a:rPr/>
              <a:t> - Makes high-quality retinal imaging accessible to all clinics - Enables better diagnosis with existing equipment - Reduces need for expensive camera upgrades</a:t>
            </a:r>
          </a:p>
          <a:p>
            <a:pPr lvl="0" indent="0" marL="0">
              <a:buNone/>
            </a:pPr>
            <a:r>
              <a:rPr/>
              <a:t>🔬 </a:t>
            </a:r>
            <a:r>
              <a:rPr b="1"/>
              <a:t>Technical:</a:t>
            </a:r>
            <a:r>
              <a:rPr/>
              <a:t> - Demonstrates effectiveness of conditional SR for medical images - Shows importance of domain-specific preprocessing - Provides baseline for future research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Educational:</a:t>
            </a:r>
            <a:r>
              <a:rPr/>
              <a:t> - Complete implementation of modern deep learning pipeline - Integration of computer vision and web development - Real-world application of academic research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 Information:</a:t>
            </a:r>
            <a:r>
              <a:rPr/>
              <a:t> - GitHub: [repository link] - Email: [your email] - Project Demo: http://localhost:3001 - API Docs: http://localhost:8000/docs</a:t>
            </a:r>
          </a:p>
          <a:p>
            <a:pPr lvl="0" indent="0" marL="0">
              <a:buNone/>
            </a:pPr>
            <a:r>
              <a:rPr b="1"/>
              <a:t>Resources:</a:t>
            </a:r>
            <a:r>
              <a:rPr/>
              <a:t> - Code: </a:t>
            </a:r>
            <a:r>
              <a:rPr>
                <a:latin typeface="Courier"/>
              </a:rPr>
              <a:t>/Users/inuguria/Documents/FYP/augment</a:t>
            </a:r>
            <a:r>
              <a:rPr/>
              <a:t> - Documentation: See </a:t>
            </a:r>
            <a:r>
              <a:rPr>
                <a:latin typeface="Courier"/>
              </a:rPr>
              <a:t>READY_FOR_PRESENTATION.md</a:t>
            </a:r>
            <a:r>
              <a:rPr/>
              <a:t> - Training Logs: </a:t>
            </a:r>
            <a:r>
              <a:rPr>
                <a:latin typeface="Courier"/>
              </a:rPr>
              <a:t>outputs/logs/</a:t>
            </a:r>
            <a:r>
              <a:rPr/>
              <a:t> - Checkpoints: </a:t>
            </a:r>
            <a:r>
              <a:rPr>
                <a:latin typeface="Courier"/>
              </a:rPr>
              <a:t>checkpoints/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Additional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A1: Complete System Architecture Diagram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┌─────────────────────────────────────────────────────────────────────┐
│                          USER INTERFACE                              │
│  ┌───────────────┐  ┌───────────────┐  ┌───────────────┐           │
│  │ Upload Page   │  │ Process View  │  │ Results View  │           │
│  │ - Drag &amp; Drop │  │ - Progress    │  │ - Comparison  │           │
│  │ - Validation  │  │ - Real-time   │  │ - Metrics     │           │
│  └───────┬───────┘  └───────┬───────┘  └───────┬───────┘           │
│          │                  │                  │                     │
│          └──────────────────┴──────────────────┘                     │
│                             ↕ HTTP REST API                          │
└─────────────────────────────────────────────────────────────────────┘
                              ↕
┌─────────────────────────────────────────────────────────────────────┐
│                        BACKEND API LAYER                             │
│  ┌──────────────────────────────────────────────────────────────┐   │
│  │                     FastAPI Router                            │   │
│  │  /upload  /process  /metrics  /register  /health  /docs      │   │
│  └────────────────────┬─────────────────────────────────────────┘   │
│                       ↕                                              │
│  ┌────────────────┐  ┌────────────────┐  ┌────────────────┐        │
│  │ Enhancement    │  │ Metrics        │  │ Registration   │        │
│  │ Service        │  │ Service        │  │ Service        │        │
│  │ - Preprocess   │  │ - PSNR/SSIM    │  │ - ORB/SIFT     │        │
│  │ - Inference    │  │ - Vessel       │  │ - Homography   │        │
│  │ - Post-process │  │ - Sharpness    │  │ - Blending     │        │
│  └────────────────┘  └────────────────┘  └────────────────┘        │
└─────────────────────────────────────────────────────────────────────┘
                              ↕
┌─────────────────────────────────────────────────────────────────────┐
│                    DEEP LEARNING MODELS                              │
│                                                                       │
│  ┌─────────────────────┐         ┌─────────────────────┐            │
│  │   SFT-ESRGAN        │         │   U-Net Vessel      │            │
│  │   Generator         │ ←───────│   Segmentation      │            │
│  │                     │ vessels │                     │            │
│  │ Input: 3×512×512    │         │ Input: 3×2048×2048  │            │
│  │ Output: 3×2048×2048 │         │ Output: 1×2048×2048 │            │
│  │                     │         │                     │            │
│  │ - RRDB Backbone     │         │ - Encoder-Decoder   │            │
│  │ - SFT Layers ×2     │         │ - Skip Connections  │            │
│  │ - PixelShuffle ×2   │         │ - Sigmoid Output    │            │
│  └─────────────────────┘         └─────────────────────┘            │
│           ↕                                                          │
│  ┌─────────────────────┐         ┌─────────────────────┐            │
│  │   PatchGAN          │         │   VGG19             │            │
│  │   Discriminator     │         │   Perceptual Loss   │            │
│  │                     │         │                     │            │
│  │ - Real vs Fake      │         │ - Feature Matching  │            │
│  │ - 70×70 patches     │         │ - Pre-trained       │            │
│  │ - Adversarial Loss  │         │ - ImageNet weights  │            │
│  └─────────────────────┘         └─────────────────────┘            │
│                                                                       │
└─────────────────────────────────────────────────────────────────────┘
                              ↕
┌─────────────────────────────────────────────────────────────────────┐
│                   IMAGE PROCESSING PIPELINE                          │
│                                                                       │
│  ┌─────────────────────────────────────────────────────────────┐    │
│  │ STEP 1: Dark Channel Prior Dehazing                         │    │
│  │ └─ LAB color space transformation                           │    │
│  │ └─ Atmospheric light estimation                             │    │
│  │ └─ Transmission map computation                             │    │
│  │ └─ Guided filtering for refinement                          │    │
│  └─────────────────────────────────────────────────────────────┘    │
│                              ↓                                       │
│  ┌─────────────────────────────────────────────────────────────┐    │
│  │ STEP 2: CLAHE Enhancement                                   │    │
│  │ └─ Green channel extraction                                 │    │
│  │ └─ Tile-based histogram equalization                        │    │
│  │ └─ Clip limit = 2.0, Grid = 8×8                             │    │
│  └─────────────────────────────────────────────────────────────┘    │
│                              ↓                                       │
│  ┌─────────────────────────────────────────────────────────────┐    │
│  │ STEP 3: Fundus Masking                                      │    │
│  │ └─ Thresholding &amp; contour detection                         │    │
│  │ └─ Morphological closing                                    │    │
│  │ └─ Erosion (20px safety margin)                             │    │
│  └─────────────────────────────────────────────────────────────┘    │
│                                                                       │
└─────────────────────────────────────────────────────────────────────┘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A2: Training Data Flow Diagram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┌──────────────────────────────────────────────────────────────┐
│                    DATA PREPARATION                           │
│                                                               │
│  patient_images/                                             │
│  └── 01-176/                                                 │
│      ├── ZEISS - LOW QUALITY/                                │
│      │   ├── LE DC.JPG ─┐                                    │
│      │   └── RE MC.JPG  │                                    │
│      └── CLARUS - HIGH QUALITY/                              │
│          ├── LE.JPG ────┘ Paired (same patient, same eye)    │
│          └── RE.JPG                                          │
│                                                               │
│  Result: 352 pairs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   PREPROCESSING PIPELINE                       │
│                                                               │
│  FOR EACH PAIR:                                              │
│                                                               │
│  Zeiss (Input):                  Clarus (Target):            │
│  ├─ Load RGB                     ├─ Load RGB                 │
│  ├─ DCP Dehazing                 ├─ Extract green channel    │
│  ├─ CLAHE (green)                ├─ CLAHE                    │
│  ├─ Resize to 512×512            ├─ Resize to 2048×2048      │
│  └─ Normalize [0,1]              └─ Normalize [0,1]          │
│                                                               │
│  Vessel Map (Condition):                                     │
│  ├─ U-Net.predict(Clarus)                                    │
│  ├─ Binary threshold                                         │
│  ├─ Resize to 2048×2048                                      │
│  └─ Save to vessel_maps/                       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   TRAIN/VAL SPLIT                              │
│                                                               │
│  Train: 300 pairs (85%)                                      │
│  Val:    52 pairs (15%)                                      │
│                                                               │
│  Save to:                                                    │
│  ├─ outputs/data/train_pairs.csv                            │
│  └─ outputs/data/val_pairs.csv                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    DATALOADER                                  │
│                                                               │
│  PyTorch DataLoader:                                         │
│  ├─ Batch size: 1                                            │
│  ├─ Shuffle: True (training) / False (validation)            │
│  ├─ Num workers: 0                                           │
│  └─ Pin memory: True                                         │
│                                                               │
│  Data Augmentation (Training Only):                          │
│  ├─ HorizontalFlip (p=0.5)                                   │
│  ├─ VerticalFlip (p=0.5)                                     │
│  ├─ RandomRotate90 (p=0.5)                                   │
│  └─ RandomBrightnessContrast (p=0.3)                         │
│                                                               │
│  Batch Structure:                                            │
│  {                                                           │
│    'input':     Tensor[1, 3, 512, 512],     # Zeiss         │
│    'target':    Tensor[1, 3, 2048, 2048],   # Clarus        │
│    'condition': Tensor[1, 1, 2048, 2048],   # Vessel map    │
│    'mask':      Tensor[1, 1, 2048, 2048]    # Fundus mask   │
│  }                                             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                   TRAINING LOOP
                (See Training Process slide)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A3: Inference Pipeline Diagram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┌──────────────────────────────────────────────────────────────┐
│                    USER UPLOADS IMAGE                         │
│  ┌────────────────────────────────────────────────┐           │
│  │  Zeiss Retinal Image (e.g., LE DC.JPG)        │           │
│  │  Format: JPG/PNG                               │           │
│  │  Size: ~1-3 MB                                 │           │
│  │  Resolution: 1024×1024 typical                 │           │
│  └────────────────────────────────────────────────┘           │
└───────────────────────┬───────────────────────────────────────┘
                        ↓ HTTP POST /api/process
┌──────────────────────────────────────────────────────────────┐
│                   BACKEND RECEIVES                            │
│  ┌────────────────────────────────────────────────┐           │
│  │  1. Validate file (format, size)              │           │
│  │  2. Save to temporary directory                │           │
│  │  3. Load with OpenCV (BGR format)              │           │
│  └────────────────────────────────────────────────┘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PREPROCESSING STAGE                             │
│                                                               │
│  ┌─────────────────────────────────────────────┐              │
│  │ STEP 1: DCP Dehazing (~0.5s)                │              │
│  │ ├─ Convert BGR → LAB                        │              │
│  │ ├─ Compute dark channel (15×15 patch)       │              │
│  │ ├─ Estimate atmospheric light                │              │
│  │ ├─ Compute transmission map                  │              │
│  │ ├─ Guided filter refinement                  │              │
│  │ └─ Recover dehazed image                     │              │
│  │ Output: 01_dehazed.png                       │              │
│  └─────────────────────────────────────────────┘              │
│                        ↓                                      │
│  ┌─────────────────────────────────────────────┐              │
│  │ STEP 2: CLAHE Enhancement (~0.1s)           │              │
│  │ ├─ Extract green channel                    │              │
│  │ ├─ Apply CLAHE (clip=2.0, grid=8×8)         │              │
│  │ └─ Result: enhanced contrast                 │              │
│  │ Output: 02_clahe.png                         │              │
│  └─────────────────────────────────────────────┘              │
│                        ↓                                      │
│  ┌─────────────────────────────────────────────┐              │
│  │ STEP 3: Fundus Masking (~0.1s)              │              │
│  │ ├─ Threshold at intensity &gt; 10               │              │
│  │ ├─ Find largest contour                      │              │
│  │ ├─ Morphological closing                     │              │
│  │ └─ Erode by 20 pixels                        │              │
│  │ Output: fundus_mask.png                      │              │
│  └─────────────────────────────────────────────┘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DEEP LEARNING INFERENCE                          │
│                                                               │
│  ┌─────────────────────────────────────────────┐              │
│  │ STEP 4: Vessel Extraction (~0.3s GPU)       │              │
│  │ ├─ Resize dehazed to 2048×2048               │              │
│  │ ├─ Run U-Net model                           │              │
│  │ ├─ Apply sigmoid threshold (&gt;0.5)            │              │
│  │ └─ Binary vessel map                         │              │
│  │ Output: 03_vessel_map.png                    │              │
│  └─────────────────────────────────────────────┘              │
│                        ↓                                      │
│  ┌─────────────────────────────────────────────┐              │
│  │ STEP 5: SFT-ESRGAN Enhancement (~2s GPU)    │              │
│  │ ├─ Prepare inputs:                           │              │
│  │ │  - Image: dehazed BGR [3, 512, 512]       │              │
│  │ │  - Condition: vessel map [1, 2048, 2048]  │              │
│  │ ├─ Model.forward(image, condition)           │              │
│  │ ├─ Apply SFT conditioning                    │              │
│  │ ├─ Generate 4x upscaled output               │              │
│  │ └─ Result: [3, 2048, 2048]                   │              │
│  │ Output: 04_enhanced.png                      │              │
│  └─────────────────────────────────────────────┘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   POST-PROCESSING                              │
│                                                               │
│  ┌─────────────────────────────────────────────┐              │
│  │ STEP 6: Quality Enhancement (~0.1s)          │              │
│  │ ├─ Apply fundus mask                         │              │
│  │ ├─ Color correction                          │              │
│  │ ├─ Clip to valid range [0, 255]              │              │
│  │ └─ Convert to uint8                           │              │
│  │ Output: 05_final.png                         │              │
│  └─────────────────────────────────────────────┘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┌──────────────────────────────────────────────────────────────┐
│                  METRICS CALCULATION                          │
│                                                               │
│  ┌─────────────────────────────────────────────┐              │
│  │ Compare with Ground Truth (if available)    │              │
│  │ ├─ PSNR (Peak Signal-to-Noise Ratio)        │              │
│  │ ├─ SSIM (Structural Similarity Index)       │              │
│  │ ├─ Vessel Recovery Ratio                     │              │
│  │ ├─ Sharpness (Laplacian variance)           │              │
│  │ └─ Processing time                           │              │
│  └─────────────────────────────────────────────┘              │
│    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 JSON Response
┌──────────────────────────────────────────────────────────────┐
│                  RETURN TO FRONTEND                           │
│  {                                                            │
│    "success": true,                                          │
│    "steps": [                                                │
│      {"name": "original", "path": "00_original.png"},        │
│      {"name": "dehazed", "path": "01_dehazed.png"},          │
│      {"name": "clahe", "path": "02_clahe.png"},              │
│      {"name": "vessel_map", "path": "03_vessel_map.png"},    │
│      {"name": "enhanced", "path": "04_enhanced.png"},        │
│      {"name": "final", "path": "05_final.png"}               │
│    ],                                                        │
│    "metrics": {                                              │
│      "psnr": 28.5,                                           │
│      "ssim": 0.87,                                           │
│      "vessel_recovery": 0.84,                                │
│      "sharpness": 168.3,                                     │
│      "processing_time": 2.3                                  │
│    }                                                         │
│  }                                                           │
└───────────────────────┬───────────────────────────────────────┘
                        ↓
                  DISPLAY RESULTS</a:t>
            </a:r>
          </a:p>
          <a:p>
            <a:pPr lvl="0" indent="0" marL="0">
              <a:buNone/>
            </a:pPr>
            <a:r>
              <a:rPr b="1"/>
              <a:t>Total Time:</a:t>
            </a:r>
            <a:r>
              <a:rPr/>
              <a:t> - GPU: ~2-3 seconds - CPU: ~5-10 minutes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Slides: 40 + 3 Appendix Diagrams</a:t>
            </a:r>
          </a:p>
          <a:p>
            <a:pPr lvl="0" indent="0" marL="0">
              <a:buNone/>
            </a:pPr>
            <a:r>
              <a:rPr b="1"/>
              <a:t>Presentation Time: ~40 minutes</a:t>
            </a:r>
            <a:r>
              <a:rPr/>
              <a:t> - Introduction: 5 min (Slides 1-5) - Literature: 3 min (Slides 6-8) - Methodology: 8 min (Slides 9-19) - Model &amp; Training: 10 min (Slides 20-31) - Application: 5 min (Slides 32-34) - Results &amp; Demo: 7 min (Slides 35-38) - Conclusion: 2 min (Slides 39-40)</a:t>
            </a:r>
          </a:p>
          <a:p>
            <a:pPr lvl="0" indent="0" marL="0">
              <a:buNone/>
            </a:pPr>
            <a:r>
              <a:rPr b="1"/>
              <a:t>Q&amp;A: 10-15 minutes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2026-04-03T13:43:27Z</dcterms:created>
  <dcterms:modified xsi:type="dcterms:W3CDTF">2026-04-03T13:43:27Z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